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aleway SemiBold"/>
      <p:regular r:id="rId35"/>
      <p:bold r:id="rId36"/>
      <p:italic r:id="rId37"/>
      <p:boldItalic r:id="rId38"/>
    </p:embeddedFont>
    <p:embeddedFont>
      <p:font typeface="Raleway"/>
      <p:regular r:id="rId39"/>
      <p:bold r:id="rId40"/>
      <p:italic r:id="rId41"/>
      <p:boldItalic r:id="rId42"/>
    </p:embeddedFont>
    <p:embeddedFont>
      <p:font typeface="Barlow Light"/>
      <p:regular r:id="rId43"/>
      <p:bold r:id="rId44"/>
      <p:italic r:id="rId45"/>
      <p:boldItalic r:id="rId46"/>
    </p:embeddedFont>
    <p:embeddedFont>
      <p:font typeface="Barlow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48FE26-DA32-46D6-B807-0D968C73392F}">
  <a:tblStyle styleId="{1648FE26-DA32-46D6-B807-0D968C73392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44" Type="http://schemas.openxmlformats.org/officeDocument/2006/relationships/font" Target="fonts/BarlowLight-bold.fntdata"/><Relationship Id="rId43" Type="http://schemas.openxmlformats.org/officeDocument/2006/relationships/font" Target="fonts/BarlowLight-regular.fntdata"/><Relationship Id="rId46" Type="http://schemas.openxmlformats.org/officeDocument/2006/relationships/font" Target="fonts/BarlowLight-boldItalic.fntdata"/><Relationship Id="rId45" Type="http://schemas.openxmlformats.org/officeDocument/2006/relationships/font" Target="fonts/Barlow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arlow-bold.fntdata"/><Relationship Id="rId47" Type="http://schemas.openxmlformats.org/officeDocument/2006/relationships/font" Target="fonts/Barlow-regular.fntdata"/><Relationship Id="rId49" Type="http://schemas.openxmlformats.org/officeDocument/2006/relationships/font" Target="fonts/Barl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alewaySemiBold-regular.fntdata"/><Relationship Id="rId34" Type="http://schemas.openxmlformats.org/officeDocument/2006/relationships/slide" Target="slides/slide29.xml"/><Relationship Id="rId37" Type="http://schemas.openxmlformats.org/officeDocument/2006/relationships/font" Target="fonts/RalewaySemiBold-italic.fntdata"/><Relationship Id="rId36" Type="http://schemas.openxmlformats.org/officeDocument/2006/relationships/font" Target="fonts/RalewaySemiBold-bold.fntdata"/><Relationship Id="rId39" Type="http://schemas.openxmlformats.org/officeDocument/2006/relationships/font" Target="fonts/Raleway-regular.fntdata"/><Relationship Id="rId38" Type="http://schemas.openxmlformats.org/officeDocument/2006/relationships/font" Target="fonts/RalewaySemi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Barl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ed4901bdf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ed4901bd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8a7442c00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e8a7442c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04c86fdc6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04c86fd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f536836aea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f536836a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536836aea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536836a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536836aea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536836ae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f536836aea_0_4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f536836aea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f536836aea_0_43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f536836aea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f536836aea_0_4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f536836aea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f536836aea_0_4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f536836ae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f536836aea_0_4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f536836aea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f536836aea_0_4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f536836aea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f536836aea_0_7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f536836aea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f536836aea_0_7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f536836aea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f536836aea_0_1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f536836aea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f536836aea_0_10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f536836aea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f536836aea_0_1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f536836aea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f536836aea_0_10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f536836aea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f536836aea_0_11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f536836aea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f536836aea_0_1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f536836aea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f536836aea_0_1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f536836aea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f536836aea_0_11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f536836aea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473af889c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473af889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473af889cf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473af889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473af889cf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473af889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473af889cf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473af889c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e9aba3672d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e9aba3672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e9aba3672d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e9aba3672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86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ctrTitle"/>
          </p:nvPr>
        </p:nvSpPr>
        <p:spPr>
          <a:xfrm>
            <a:off x="1076325" y="1863600"/>
            <a:ext cx="66723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Processos de Software e Engenharia de Requisitos</a:t>
            </a:r>
            <a:endParaRPr/>
          </a:p>
        </p:txBody>
      </p:sp>
      <p:sp>
        <p:nvSpPr>
          <p:cNvPr id="64" name="Google Shape;64;p12"/>
          <p:cNvSpPr txBox="1"/>
          <p:nvPr>
            <p:ph type="ctrTitle"/>
          </p:nvPr>
        </p:nvSpPr>
        <p:spPr>
          <a:xfrm>
            <a:off x="1076325" y="3642500"/>
            <a:ext cx="6305700" cy="12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Aula 8 - Engenharia de Requisitos - Introdução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605600"/>
            <a:ext cx="64641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Nas aulas passadas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Engenharia de Software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Processos de Software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Dirigido a planos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Ágeis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de hoje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Engenharia de requisitos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O que são requisitos;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Importância dos requisitos;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Classificação: requisitos funcionais e não-funcionais.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Processo da engenharia de requisitos.</a:t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Atividades básicas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Especificação de software.</a:t>
            </a:r>
            <a:r>
              <a:rPr lang="en"/>
              <a:t> A funcionalidade do software e as restrições a seu funcionamento devem ser definidas.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Projeto e implementação de software.</a:t>
            </a:r>
            <a:r>
              <a:rPr lang="en"/>
              <a:t> O software deve ser produzido para atender às especificações.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Validação de software. </a:t>
            </a:r>
            <a:r>
              <a:rPr lang="en"/>
              <a:t>O software deve ser validado para garantir que atenda às demandas do cliente.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Evolução de software. </a:t>
            </a:r>
            <a:r>
              <a:rPr lang="en"/>
              <a:t>O software deve evoluir para atender às necessidades de mudança dos clientes.</a:t>
            </a:r>
            <a:endParaRPr/>
          </a:p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Atividades básicas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Na etapa de especificação: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O que pode dar errado?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Como podemos notar o erro?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Como podemos solucionar o que está errado?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Como prevenimos o erro?</a:t>
            </a:r>
            <a:endParaRPr/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Atividades básicas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Na etapa de especificação: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Nenhum requisito documentado;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especificados de forma incorreta;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Modelagem de requisitos incompleta;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Nenhum envolvimento do usuário final;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Falta de validação dos requisitos por parte dos usuários e clientes.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Qual é a nossa missão como profissionais que trabalham com desenvolvimento de software?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2" name="Google Shape;112;p18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113" name="Google Shape;113;p18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114" name="Google Shape;114;p18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8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8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8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8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8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8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8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8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8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8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8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8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8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8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8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8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8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8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8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8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8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8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8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8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8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8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8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8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8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8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8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8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8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8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8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8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8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8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8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8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8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8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8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8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8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8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8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8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8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8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8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8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8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8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8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8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8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8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8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8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8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8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8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8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8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8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8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8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8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" name="Google Shape;221;p18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6687910" y="670084"/>
              <a:ext cx="164002" cy="23977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6700339" y="668001"/>
              <a:ext cx="78555" cy="96805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6715688" y="773039"/>
              <a:ext cx="96898" cy="108448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6550295" y="816287"/>
              <a:ext cx="182863" cy="260314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6687493" y="808527"/>
              <a:ext cx="141254" cy="186323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6712641" y="675415"/>
              <a:ext cx="103914" cy="12801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6716857" y="674913"/>
              <a:ext cx="104325" cy="98187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6591681" y="1319278"/>
              <a:ext cx="82039" cy="62578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6592043" y="1339232"/>
              <a:ext cx="81667" cy="42638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6550653" y="1292322"/>
              <a:ext cx="75096" cy="58175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6550998" y="1311512"/>
              <a:ext cx="74798" cy="39046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6578488" y="992358"/>
              <a:ext cx="178821" cy="308422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6627226" y="992967"/>
              <a:ext cx="178028" cy="333954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6560953" y="971949"/>
              <a:ext cx="266226" cy="245057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6774876" y="827227"/>
              <a:ext cx="92521" cy="324362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6792998" y="823141"/>
              <a:ext cx="55942" cy="71147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6683350" y="808424"/>
              <a:ext cx="47853" cy="5024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2" name="Google Shape;252;p18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253" name="Google Shape;253;p18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8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18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271" name="Google Shape;271;p18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8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2" name="Google Shape;302;p18"/>
            <p:cNvSpPr/>
            <p:nvPr/>
          </p:nvSpPr>
          <p:spPr>
            <a:xfrm>
              <a:off x="7297552" y="1119942"/>
              <a:ext cx="135694" cy="266572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7309787" y="1745656"/>
              <a:ext cx="93354" cy="72328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7310617" y="1769417"/>
              <a:ext cx="92957" cy="4848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7197828" y="1680648"/>
              <a:ext cx="93332" cy="69654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7198064" y="1702707"/>
              <a:ext cx="92908" cy="4848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7221254" y="1360384"/>
              <a:ext cx="326905" cy="395190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7417903" y="1095544"/>
              <a:ext cx="102845" cy="100060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7381720" y="1109556"/>
              <a:ext cx="166879" cy="325717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7413797" y="991818"/>
              <a:ext cx="110830" cy="134949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7417935" y="980032"/>
              <a:ext cx="116959" cy="115584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7364000" y="1109861"/>
              <a:ext cx="53873" cy="78410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8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8113340" y="4275363"/>
              <a:ext cx="345795" cy="199644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8345604" y="3658605"/>
              <a:ext cx="79290" cy="172593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8356722" y="3587657"/>
              <a:ext cx="56997" cy="109672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8165307" y="4346248"/>
              <a:ext cx="122958" cy="68962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8165313" y="4357988"/>
              <a:ext cx="120890" cy="57443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>
              <a:off x="8255166" y="4305930"/>
              <a:ext cx="122958" cy="68996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8255174" y="4317703"/>
              <a:ext cx="120890" cy="57443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8198325" y="3858200"/>
              <a:ext cx="179790" cy="507530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8224549" y="3442293"/>
              <a:ext cx="130498" cy="208861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8197056" y="3589895"/>
              <a:ext cx="200686" cy="332311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8000839" y="3631642"/>
              <a:ext cx="254803" cy="198498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8187055" y="3627341"/>
              <a:ext cx="77533" cy="113490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8224358" y="3433131"/>
              <a:ext cx="126514" cy="139443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8" name="Google Shape;338;p18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339" name="Google Shape;339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18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345" name="Google Shape;345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0" name="Google Shape;350;p18"/>
            <p:cNvSpPr/>
            <p:nvPr/>
          </p:nvSpPr>
          <p:spPr>
            <a:xfrm>
              <a:off x="7451033" y="1163186"/>
              <a:ext cx="126359" cy="353331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7509451" y="1160411"/>
              <a:ext cx="72770" cy="98686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2" name="Google Shape;352;p18"/>
            <p:cNvGrpSpPr/>
            <p:nvPr/>
          </p:nvGrpSpPr>
          <p:grpSpPr>
            <a:xfrm flipH="1">
              <a:off x="8183210" y="2407472"/>
              <a:ext cx="780360" cy="1195999"/>
              <a:chOff x="3975528" y="3303922"/>
              <a:chExt cx="780360" cy="1195999"/>
            </a:xfrm>
          </p:grpSpPr>
          <p:sp>
            <p:nvSpPr>
              <p:cNvPr id="353" name="Google Shape;353;p18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8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rgbClr val="007BB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8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8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8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rgbClr val="007BB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8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8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8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8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rgbClr val="007BB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8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8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9" name="Google Shape;379;p18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380" name="Google Shape;380;p18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18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2" name="Google Shape;382;p18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3" name="Google Shape;383;p18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" name="Google Shape;384;p18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85" name="Google Shape;385;p18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8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missão</a:t>
            </a:r>
            <a:endParaRPr/>
          </a:p>
        </p:txBody>
      </p:sp>
      <p:sp>
        <p:nvSpPr>
          <p:cNvPr id="392" name="Google Shape;392;p19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Desenvolver software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Atendendo a necessidade de todos os envolvidos;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Com o nível de qualidade esperado;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Dentro do prazo;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Dentro do orçamento.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4" name="Google Shape;3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428" y="2171699"/>
            <a:ext cx="2101585" cy="297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0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Requisitos</a:t>
            </a:r>
            <a:endParaRPr/>
          </a:p>
        </p:txBody>
      </p:sp>
      <p:sp>
        <p:nvSpPr>
          <p:cNvPr id="401" name="Google Shape;401;p20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O primeiro passo!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3" name="Google Shape;4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1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Requisitos</a:t>
            </a:r>
            <a:endParaRPr/>
          </a:p>
        </p:txBody>
      </p:sp>
      <p:sp>
        <p:nvSpPr>
          <p:cNvPr id="409" name="Google Shape;409;p21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O primeiro passo!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Mas o que são requisitos?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1" name="Google Shape;4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1492" y="1688300"/>
            <a:ext cx="1454075" cy="34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Requisitos</a:t>
            </a:r>
            <a:endParaRPr/>
          </a:p>
        </p:txBody>
      </p:sp>
      <p:sp>
        <p:nvSpPr>
          <p:cNvPr id="418" name="Google Shape;418;p22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Definições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Para Pfleeger (2004), um requisito é uma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característica do sistema ou a descrição de algo que o sistema é capaz de realizar</a:t>
            </a:r>
            <a:r>
              <a:rPr lang="en"/>
              <a:t>, para atingir os seus objetivos;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No SWEBOK (2004), um requisito é descrito como uma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propriedade que o software deve exibir para resolver algum problema no mundo real</a:t>
            </a:r>
            <a:r>
              <a:rPr lang="en"/>
              <a:t>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Segundo Nuseibeh e Easterbrook (2000), requisitos são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expressões das necessidades de um stakeholder para atingir objetivos particulares</a:t>
            </a:r>
            <a:r>
              <a:rPr lang="en"/>
              <a:t>;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0" name="Google Shape;4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3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Requisitos</a:t>
            </a:r>
            <a:endParaRPr/>
          </a:p>
        </p:txBody>
      </p:sp>
      <p:sp>
        <p:nvSpPr>
          <p:cNvPr id="426" name="Google Shape;426;p2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Definição da IEEE Software Engineering Standarts: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Uma condição ou capacidade necessária para um usuário resolver um problema ou alcançar um objetivo.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Uma condição ou uma capacidade que deve ser alcançada ou estar presente em um sistema para satisfazer um contrato, padrão, especificação ou outro documento formalmente imposto...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8" name="Google Shape;4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"/>
          <p:cNvSpPr txBox="1"/>
          <p:nvPr>
            <p:ph idx="1" type="body"/>
          </p:nvPr>
        </p:nvSpPr>
        <p:spPr>
          <a:xfrm>
            <a:off x="1039050" y="1028325"/>
            <a:ext cx="71292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100"/>
              <a:t>A parte individual mais difícil da construção de um sistema de software é decidir o que construir. Nenhuma parte do trabalho danifica tanto o sistema resultante se for feita de forma incorreta. Nenhuma outra parte é mais difícil de se consertar depois. (Fred Brooks)  </a:t>
            </a:r>
            <a:endParaRPr sz="3100"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4" name="Google Shape;434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 txBox="1"/>
          <p:nvPr>
            <p:ph type="title"/>
          </p:nvPr>
        </p:nvSpPr>
        <p:spPr>
          <a:xfrm>
            <a:off x="457200" y="605600"/>
            <a:ext cx="8478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Importância dos Requisitos</a:t>
            </a:r>
            <a:endParaRPr/>
          </a:p>
        </p:txBody>
      </p:sp>
      <p:sp>
        <p:nvSpPr>
          <p:cNvPr id="440" name="Google Shape;440;p25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Quanto mais tarde no processo de desenvolvimento um defeito for detectado, maior será o custo para consertá-lo.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Estágio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Projeto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Codificação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Testes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Manutenção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2" name="Google Shape;4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9489" y="2736025"/>
            <a:ext cx="2725024" cy="190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5"/>
          <p:cNvSpPr txBox="1"/>
          <p:nvPr/>
        </p:nvSpPr>
        <p:spPr>
          <a:xfrm>
            <a:off x="4010600" y="2736025"/>
            <a:ext cx="8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500">
                <a:latin typeface="Verdana"/>
                <a:ea typeface="Verdana"/>
                <a:cs typeface="Verdana"/>
                <a:sym typeface="Verdana"/>
              </a:rPr>
              <a:t>1 - 2</a:t>
            </a:r>
            <a:endParaRPr sz="1100"/>
          </a:p>
        </p:txBody>
      </p:sp>
      <p:sp>
        <p:nvSpPr>
          <p:cNvPr id="445" name="Google Shape;445;p25"/>
          <p:cNvSpPr txBox="1"/>
          <p:nvPr/>
        </p:nvSpPr>
        <p:spPr>
          <a:xfrm>
            <a:off x="4010600" y="3078175"/>
            <a:ext cx="8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500">
                <a:latin typeface="Verdana"/>
                <a:ea typeface="Verdana"/>
                <a:cs typeface="Verdana"/>
                <a:sym typeface="Verdana"/>
              </a:rPr>
              <a:t>5</a:t>
            </a:r>
            <a:endParaRPr sz="1100"/>
          </a:p>
        </p:txBody>
      </p:sp>
      <p:sp>
        <p:nvSpPr>
          <p:cNvPr id="446" name="Google Shape;446;p25"/>
          <p:cNvSpPr txBox="1"/>
          <p:nvPr/>
        </p:nvSpPr>
        <p:spPr>
          <a:xfrm>
            <a:off x="4010600" y="3478638"/>
            <a:ext cx="8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500">
                <a:latin typeface="Verdana"/>
                <a:ea typeface="Verdana"/>
                <a:cs typeface="Verdana"/>
                <a:sym typeface="Verdana"/>
              </a:rPr>
              <a:t>10</a:t>
            </a:r>
            <a:endParaRPr sz="1100"/>
          </a:p>
        </p:txBody>
      </p:sp>
      <p:sp>
        <p:nvSpPr>
          <p:cNvPr id="447" name="Google Shape;447;p25"/>
          <p:cNvSpPr txBox="1"/>
          <p:nvPr/>
        </p:nvSpPr>
        <p:spPr>
          <a:xfrm>
            <a:off x="4010600" y="3839938"/>
            <a:ext cx="8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500">
                <a:latin typeface="Verdana"/>
                <a:ea typeface="Verdana"/>
                <a:cs typeface="Verdana"/>
                <a:sym typeface="Verdana"/>
              </a:rPr>
              <a:t>50</a:t>
            </a:r>
            <a:endParaRPr sz="1100"/>
          </a:p>
        </p:txBody>
      </p:sp>
      <p:sp>
        <p:nvSpPr>
          <p:cNvPr id="448" name="Google Shape;448;p25"/>
          <p:cNvSpPr txBox="1"/>
          <p:nvPr/>
        </p:nvSpPr>
        <p:spPr>
          <a:xfrm>
            <a:off x="4010600" y="4221263"/>
            <a:ext cx="87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1500">
                <a:latin typeface="Verdana"/>
                <a:ea typeface="Verdana"/>
                <a:cs typeface="Verdana"/>
                <a:sym typeface="Verdana"/>
              </a:rPr>
              <a:t>100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4" name="Google Shape;4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6"/>
          <p:cNvSpPr/>
          <p:nvPr/>
        </p:nvSpPr>
        <p:spPr>
          <a:xfrm>
            <a:off x="813200" y="180850"/>
            <a:ext cx="1599000" cy="46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1364375" y="1129450"/>
            <a:ext cx="1409700" cy="6414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2774075" y="1129450"/>
            <a:ext cx="1409700" cy="641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1364375" y="2223750"/>
            <a:ext cx="1409700" cy="6414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2774075" y="2223750"/>
            <a:ext cx="1409700" cy="641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4183775" y="2223750"/>
            <a:ext cx="2177400" cy="641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 txBox="1"/>
          <p:nvPr/>
        </p:nvSpPr>
        <p:spPr>
          <a:xfrm>
            <a:off x="907850" y="215050"/>
            <a:ext cx="14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Problema real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2" name="Google Shape;462;p26"/>
          <p:cNvSpPr txBox="1"/>
          <p:nvPr/>
        </p:nvSpPr>
        <p:spPr>
          <a:xfrm>
            <a:off x="1364375" y="1128788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Especificação Correta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3" name="Google Shape;463;p26"/>
          <p:cNvSpPr txBox="1"/>
          <p:nvPr/>
        </p:nvSpPr>
        <p:spPr>
          <a:xfrm>
            <a:off x="2774075" y="1128800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Especificação com Erro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1364375" y="2223425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Projeto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Correto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5" name="Google Shape;465;p26"/>
          <p:cNvSpPr txBox="1"/>
          <p:nvPr/>
        </p:nvSpPr>
        <p:spPr>
          <a:xfrm>
            <a:off x="2774075" y="2243263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Projeto 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com Erro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4183775" y="2223588"/>
            <a:ext cx="217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Projeto baseado em Especificação com Erro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1364375" y="3318375"/>
            <a:ext cx="1409700" cy="6414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2774075" y="3318375"/>
            <a:ext cx="1409700" cy="641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4183775" y="3318375"/>
            <a:ext cx="2177400" cy="641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1364375" y="3318213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Código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Correto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1" name="Google Shape;471;p26"/>
          <p:cNvSpPr txBox="1"/>
          <p:nvPr/>
        </p:nvSpPr>
        <p:spPr>
          <a:xfrm>
            <a:off x="2774075" y="3337875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Código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com Erro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2" name="Google Shape;472;p26"/>
          <p:cNvSpPr txBox="1"/>
          <p:nvPr/>
        </p:nvSpPr>
        <p:spPr>
          <a:xfrm>
            <a:off x="4183775" y="3331438"/>
            <a:ext cx="217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Código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baseado em Projeto com Erro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6361175" y="3318375"/>
            <a:ext cx="2177400" cy="641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"/>
          <p:cNvSpPr txBox="1"/>
          <p:nvPr/>
        </p:nvSpPr>
        <p:spPr>
          <a:xfrm>
            <a:off x="6361175" y="3318463"/>
            <a:ext cx="217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Código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baseado em Especificação com Erro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1364375" y="4413325"/>
            <a:ext cx="1409700" cy="641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2774075" y="4413325"/>
            <a:ext cx="1409700" cy="6414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4183775" y="4413325"/>
            <a:ext cx="2177400" cy="641400"/>
          </a:xfrm>
          <a:prstGeom prst="rect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"/>
          <p:cNvSpPr txBox="1"/>
          <p:nvPr/>
        </p:nvSpPr>
        <p:spPr>
          <a:xfrm>
            <a:off x="1364375" y="4413000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Funções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Corretas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79" name="Google Shape;479;p26"/>
          <p:cNvSpPr txBox="1"/>
          <p:nvPr/>
        </p:nvSpPr>
        <p:spPr>
          <a:xfrm>
            <a:off x="2774075" y="4413000"/>
            <a:ext cx="14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Erros de Fácil Correção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0" name="Google Shape;480;p26"/>
          <p:cNvSpPr txBox="1"/>
          <p:nvPr/>
        </p:nvSpPr>
        <p:spPr>
          <a:xfrm>
            <a:off x="4183775" y="4413000"/>
            <a:ext cx="217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Erros de Difícil 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Correção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6361175" y="4413325"/>
            <a:ext cx="2177400" cy="641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6"/>
          <p:cNvSpPr txBox="1"/>
          <p:nvPr/>
        </p:nvSpPr>
        <p:spPr>
          <a:xfrm>
            <a:off x="6361175" y="4533925"/>
            <a:ext cx="21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Erros ocultos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-45325" y="1250050"/>
            <a:ext cx="14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Requisitos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-45325" y="2344350"/>
            <a:ext cx="14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Projeto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5" name="Google Shape;485;p26"/>
          <p:cNvSpPr txBox="1"/>
          <p:nvPr/>
        </p:nvSpPr>
        <p:spPr>
          <a:xfrm>
            <a:off x="-45325" y="3439138"/>
            <a:ext cx="14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Codificação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-45325" y="4533938"/>
            <a:ext cx="14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Testes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87" name="Google Shape;487;p26"/>
          <p:cNvCxnSpPr/>
          <p:nvPr/>
        </p:nvCxnSpPr>
        <p:spPr>
          <a:xfrm>
            <a:off x="1373400" y="1770975"/>
            <a:ext cx="1800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26"/>
          <p:cNvCxnSpPr/>
          <p:nvPr/>
        </p:nvCxnSpPr>
        <p:spPr>
          <a:xfrm>
            <a:off x="1373400" y="2857188"/>
            <a:ext cx="1800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26"/>
          <p:cNvCxnSpPr/>
          <p:nvPr/>
        </p:nvCxnSpPr>
        <p:spPr>
          <a:xfrm>
            <a:off x="1373400" y="3959763"/>
            <a:ext cx="1800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26"/>
          <p:cNvCxnSpPr/>
          <p:nvPr/>
        </p:nvCxnSpPr>
        <p:spPr>
          <a:xfrm>
            <a:off x="2778588" y="1758925"/>
            <a:ext cx="1413900" cy="47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6"/>
          <p:cNvCxnSpPr/>
          <p:nvPr/>
        </p:nvCxnSpPr>
        <p:spPr>
          <a:xfrm>
            <a:off x="4132713" y="1757438"/>
            <a:ext cx="2228400" cy="47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6"/>
          <p:cNvCxnSpPr/>
          <p:nvPr/>
        </p:nvCxnSpPr>
        <p:spPr>
          <a:xfrm>
            <a:off x="2771963" y="2855688"/>
            <a:ext cx="1413900" cy="47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26"/>
          <p:cNvCxnSpPr/>
          <p:nvPr/>
        </p:nvCxnSpPr>
        <p:spPr>
          <a:xfrm>
            <a:off x="4183763" y="2852138"/>
            <a:ext cx="2195400" cy="49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26"/>
          <p:cNvCxnSpPr/>
          <p:nvPr/>
        </p:nvCxnSpPr>
        <p:spPr>
          <a:xfrm>
            <a:off x="6361113" y="2870450"/>
            <a:ext cx="2177400" cy="48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26"/>
          <p:cNvCxnSpPr/>
          <p:nvPr/>
        </p:nvCxnSpPr>
        <p:spPr>
          <a:xfrm>
            <a:off x="2753975" y="3959763"/>
            <a:ext cx="1800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26"/>
          <p:cNvCxnSpPr/>
          <p:nvPr/>
        </p:nvCxnSpPr>
        <p:spPr>
          <a:xfrm>
            <a:off x="4183775" y="3963638"/>
            <a:ext cx="1800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26"/>
          <p:cNvCxnSpPr/>
          <p:nvPr/>
        </p:nvCxnSpPr>
        <p:spPr>
          <a:xfrm>
            <a:off x="6361125" y="3963638"/>
            <a:ext cx="1800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26"/>
          <p:cNvCxnSpPr/>
          <p:nvPr/>
        </p:nvCxnSpPr>
        <p:spPr>
          <a:xfrm>
            <a:off x="8520525" y="3959763"/>
            <a:ext cx="18000" cy="46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6"/>
          <p:cNvCxnSpPr>
            <a:stCxn id="461" idx="2"/>
            <a:endCxn id="462" idx="0"/>
          </p:cNvCxnSpPr>
          <p:nvPr/>
        </p:nvCxnSpPr>
        <p:spPr>
          <a:xfrm>
            <a:off x="1612700" y="615250"/>
            <a:ext cx="456600" cy="51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</a:t>
            </a:r>
            <a:endParaRPr/>
          </a:p>
        </p:txBody>
      </p:sp>
      <p:sp>
        <p:nvSpPr>
          <p:cNvPr id="505" name="Google Shape;505;p27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Requisitos Funcionais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diretamente ligados a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funcionalidade </a:t>
            </a:r>
            <a:r>
              <a:rPr lang="en"/>
              <a:t>do software, descrevem as funções que o software deve executar;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Um requisito funcional descreve uma interação entre o sistema e seu ambiente;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Exemplo: “O sistema deve prover um formulário de relatório com os resultados dos testes clínicos de um paciente”.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7" name="Google Shape;5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</a:t>
            </a:r>
            <a:endParaRPr/>
          </a:p>
        </p:txBody>
      </p:sp>
      <p:sp>
        <p:nvSpPr>
          <p:cNvPr id="513" name="Google Shape;513;p28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Requisitos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 Funcionais - Exemplos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[RF001] Permitir a criação, edição e exclusão de orçamentos.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[RF002] Permitir a inclusão de múltiplos produtos de um mesmo tipo para um mesmo orçamento.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[RF003] Manter histórico de versões dos orçamentos, registrando os vendedores que fizeram as alterações.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[RF004] Permitir a geração de relatórios sobre o desempenho de vendas no semestre;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[RF005] Cancelar automaticamente um orçamento que tenha sido feito há mais de 30 dias e não tenha sido transformado em venda.</a:t>
            </a:r>
            <a:endParaRPr/>
          </a:p>
        </p:txBody>
      </p:sp>
      <p:sp>
        <p:nvSpPr>
          <p:cNvPr id="514" name="Google Shape;514;p2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5" name="Google Shape;5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</a:t>
            </a:r>
            <a:endParaRPr/>
          </a:p>
        </p:txBody>
      </p:sp>
      <p:sp>
        <p:nvSpPr>
          <p:cNvPr id="521" name="Google Shape;521;p29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Requisitos Não-Funcionais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São requisitos que expressam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condições </a:t>
            </a:r>
            <a:r>
              <a:rPr lang="en"/>
              <a:t>que o software deve atender ou qualidades específicas que o software deve ter;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Em vez de informar o que o sistema fará, os requisitos não-funcionais colocam restrições no sistema;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Exemplo: As consultas ao sistema devem ser respondidas em menos de três segundos;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não-funcionais podem ser mais críticos que requisitos funcionais;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Se o sistema não os satisfaz, muitas vezes o sistema se torna inútil.</a:t>
            </a:r>
            <a:endParaRPr/>
          </a:p>
          <a:p>
            <a:pPr indent="0" lvl="0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3" name="Google Shape;5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0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</a:t>
            </a:r>
            <a:endParaRPr/>
          </a:p>
        </p:txBody>
      </p:sp>
      <p:sp>
        <p:nvSpPr>
          <p:cNvPr id="529" name="Google Shape;529;p30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Requisitos Não-Funcionais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não-funcionais devem ser mensuráveis;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Deve-se associar forma de medida/referência a cada requisito não-funcional elicitado.</a:t>
            </a:r>
            <a:endParaRPr/>
          </a:p>
        </p:txBody>
      </p:sp>
      <p:sp>
        <p:nvSpPr>
          <p:cNvPr id="530" name="Google Shape;530;p3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1" name="Google Shape;5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1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Medidas - RNF</a:t>
            </a:r>
            <a:endParaRPr/>
          </a:p>
        </p:txBody>
      </p:sp>
      <p:sp>
        <p:nvSpPr>
          <p:cNvPr id="537" name="Google Shape;537;p3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8" name="Google Shape;5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9" name="Google Shape;539;p31"/>
          <p:cNvGraphicFramePr/>
          <p:nvPr/>
        </p:nvGraphicFramePr>
        <p:xfrm>
          <a:off x="126346" y="1306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{1648FE26-DA32-46D6-B807-0D968C73392F}</a:tableStyleId>
              </a:tblPr>
              <a:tblGrid>
                <a:gridCol w="3044025"/>
                <a:gridCol w="5847300"/>
              </a:tblGrid>
              <a:tr h="5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Propriedade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Exemplos de Medidas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70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Velocidade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Transações Processadas/seg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Tempo de resposta ao usuário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Tamanho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 bytes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Facilidade de Uso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Tempo de treinamento para execução de uma tarefa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70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Confiabilidade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Tempo médio entre falhas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Taxa de ocorrência de falhas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70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Robustez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Tempo de reinício após falha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Probabilidade de corrupção de dados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2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RNF Verificáveis</a:t>
            </a:r>
            <a:endParaRPr/>
          </a:p>
        </p:txBody>
      </p:sp>
      <p:sp>
        <p:nvSpPr>
          <p:cNvPr id="545" name="Google Shape;545;p3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6" name="Google Shape;5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7" name="Google Shape;547;p32"/>
          <p:cNvGraphicFramePr/>
          <p:nvPr/>
        </p:nvGraphicFramePr>
        <p:xfrm>
          <a:off x="-11" y="1271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{1648FE26-DA32-46D6-B807-0D968C73392F}</a:tableStyleId>
              </a:tblPr>
              <a:tblGrid>
                <a:gridCol w="3943125"/>
                <a:gridCol w="5162800"/>
              </a:tblGrid>
              <a:tr h="59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Requisito Não Verificável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88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Requisito Verificável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93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40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“ O banco de dados ZZ deve ser flexível”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40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 banco de dados ZZ deve possuir oito campos por registro.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161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40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“</a:t>
                      </a:r>
                      <a:r>
                        <a:rPr lang="en" sz="18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 sistema</a:t>
                      </a: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deve ser seguro”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18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 sistema </a:t>
                      </a: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deve desligar os aquecedores se a temperatura da água exceder 37°C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400"/>
                        <a:buFont typeface="Arial"/>
                        <a:buNone/>
                      </a:pPr>
                      <a:r>
                        <a:rPr lang="en" sz="1800">
                          <a:latin typeface="Barlow"/>
                          <a:ea typeface="Barlow"/>
                          <a:cs typeface="Barlow"/>
                          <a:sym typeface="Barlow"/>
                        </a:rPr>
                        <a:t>O sistema </a:t>
                      </a: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deve estar dentro dos padrões estabelecidos pela norma N567 seção 3.6 para temperaturas de superfícies externas.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68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40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“O sistema </a:t>
                      </a:r>
                      <a:r>
                        <a:rPr lang="en" sz="1800">
                          <a:latin typeface="Barlow"/>
                          <a:ea typeface="Barlow"/>
                          <a:cs typeface="Barlow"/>
                          <a:sym typeface="Barlow"/>
                        </a:rPr>
                        <a:t>XX </a:t>
                      </a: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deve processar depósitos rapidamente”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2400"/>
                        <a:buFont typeface="Arial"/>
                        <a:buNone/>
                      </a:pP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O sistema </a:t>
                      </a:r>
                      <a:r>
                        <a:rPr lang="en" sz="1800">
                          <a:latin typeface="Barlow"/>
                          <a:ea typeface="Barlow"/>
                          <a:cs typeface="Barlow"/>
                          <a:sym typeface="Barlow"/>
                        </a:rPr>
                        <a:t>XX </a:t>
                      </a:r>
                      <a:r>
                        <a:rPr i="0" lang="en" sz="1800" u="none" cap="none" strike="noStrike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deve processar os dados de depósito em 2 segundos ou menos</a:t>
                      </a:r>
                      <a:endParaRPr sz="1800"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45725" marB="45725" marR="99050" marL="990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3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</a:t>
            </a:r>
            <a:endParaRPr/>
          </a:p>
        </p:txBody>
      </p:sp>
      <p:sp>
        <p:nvSpPr>
          <p:cNvPr id="553" name="Google Shape;553;p33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Algumas Categorias de Requisitos Não Funcionais: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de Segurança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Ex.: utilização de protocolo de comunicação criptografado (https, etc)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de Confiabilidade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Ex.: o sistema deve estar disponível para os usuários 7 dias por semana, 24 horas por dia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de Desempenho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Ex.: o tempo de resposta máximo de uma operação no sistema para um usuário deve ser de 5 segundos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4" name="Google Shape;554;p3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5" name="Google Shape;5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Classificação </a:t>
            </a:r>
            <a:endParaRPr/>
          </a:p>
        </p:txBody>
      </p:sp>
      <p:sp>
        <p:nvSpPr>
          <p:cNvPr id="561" name="Google Shape;561;p34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"/>
              <a:buChar char="▸"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Algumas Categorias de Requisitos Não Funcionais: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de Usabilidade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Ex.: um novo usuário deverá ser capaz de fazer um pedido de compra de um novo produto químico após não mais do que 30 minutos de orientação</a:t>
            </a:r>
            <a:endParaRPr/>
          </a:p>
          <a:p>
            <a:pPr indent="-3429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Requisitos de Portabilidade</a:t>
            </a:r>
            <a:endParaRPr/>
          </a:p>
          <a:p>
            <a:pPr indent="-34290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Ex.: "O sistema deverá ser desenvolvido de forma a possibilitar sua migração para Linux em, no máximo, 60 dias”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2" name="Google Shape;562;p3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3" name="Google Shape;5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5"/>
          <p:cNvSpPr txBox="1"/>
          <p:nvPr>
            <p:ph type="title"/>
          </p:nvPr>
        </p:nvSpPr>
        <p:spPr>
          <a:xfrm>
            <a:off x="457200" y="605600"/>
            <a:ext cx="86106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 da Eng. Requisitos</a:t>
            </a:r>
            <a:endParaRPr/>
          </a:p>
        </p:txBody>
      </p:sp>
      <p:sp>
        <p:nvSpPr>
          <p:cNvPr id="569" name="Google Shape;569;p3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0" name="Google Shape;5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4613" y="1688300"/>
            <a:ext cx="391477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6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Elicitação e Análise</a:t>
            </a:r>
            <a:endParaRPr/>
          </a:p>
        </p:txBody>
      </p:sp>
      <p:sp>
        <p:nvSpPr>
          <p:cNvPr id="577" name="Google Shape;577;p36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É o processo de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derivação dos requisitos do sistema</a:t>
            </a:r>
            <a:r>
              <a:rPr lang="en"/>
              <a:t> por meio da observação dos sistemas existentes, de disc</a:t>
            </a:r>
            <a:r>
              <a:rPr lang="en"/>
              <a:t>u</a:t>
            </a:r>
            <a:r>
              <a:rPr lang="en"/>
              <a:t>ssões com os potenciais usuários e clientes, da análise de tarefas etc.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Pode envolver o desenvolvimento de um ou mais modelos do sistema e protótipos, pois eles ajudam a compreender o sistema a ser especificado.</a:t>
            </a:r>
            <a:endParaRPr/>
          </a:p>
        </p:txBody>
      </p:sp>
      <p:sp>
        <p:nvSpPr>
          <p:cNvPr id="578" name="Google Shape;578;p3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9" name="Google Shape;5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7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Especificação</a:t>
            </a:r>
            <a:endParaRPr/>
          </a:p>
        </p:txBody>
      </p:sp>
      <p:sp>
        <p:nvSpPr>
          <p:cNvPr id="585" name="Google Shape;585;p37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É a atividade de traduzir a informação obtida durante a análise em um documento que defina um conjunto de requisitos. 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Nesse documento são descritos os requisitos de uma forma mais detalhada, de maneira a representar a funcionalidade a ser fornecida.</a:t>
            </a:r>
            <a:endParaRPr/>
          </a:p>
        </p:txBody>
      </p:sp>
      <p:sp>
        <p:nvSpPr>
          <p:cNvPr id="586" name="Google Shape;586;p3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7" name="Google Shape;5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/>
          <p:cNvSpPr txBox="1"/>
          <p:nvPr>
            <p:ph type="title"/>
          </p:nvPr>
        </p:nvSpPr>
        <p:spPr>
          <a:xfrm>
            <a:off x="457200" y="605600"/>
            <a:ext cx="5985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Validação</a:t>
            </a:r>
            <a:endParaRPr/>
          </a:p>
        </p:txBody>
      </p:sp>
      <p:sp>
        <p:nvSpPr>
          <p:cNvPr id="593" name="Google Shape;593;p38"/>
          <p:cNvSpPr txBox="1"/>
          <p:nvPr>
            <p:ph idx="1" type="body"/>
          </p:nvPr>
        </p:nvSpPr>
        <p:spPr>
          <a:xfrm>
            <a:off x="457200" y="1292150"/>
            <a:ext cx="82617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Essa atividade confere os requisitos quanto a realismo, consistência e integridade. </a:t>
            </a:r>
            <a:endParaRPr/>
          </a:p>
          <a:p>
            <a:pPr indent="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Durante esse processo, erros no documento de requisitos são inevitavelmente descobertos. Assim, o documento deve ser modificado para corrigir tais problemas.</a:t>
            </a:r>
            <a:endParaRPr/>
          </a:p>
        </p:txBody>
      </p:sp>
      <p:sp>
        <p:nvSpPr>
          <p:cNvPr id="594" name="Google Shape;594;p3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5" name="Google Shape;5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9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Dúvidas?</a:t>
            </a:r>
            <a:endParaRPr/>
          </a:p>
        </p:txBody>
      </p:sp>
      <p:sp>
        <p:nvSpPr>
          <p:cNvPr id="601" name="Google Shape;601;p3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2" name="Google Shape;6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44967" y="1688300"/>
            <a:ext cx="1454075" cy="34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0"/>
          <p:cNvSpPr txBox="1"/>
          <p:nvPr>
            <p:ph type="title"/>
          </p:nvPr>
        </p:nvSpPr>
        <p:spPr>
          <a:xfrm>
            <a:off x="457200" y="605600"/>
            <a:ext cx="71958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609" name="Google Shape;609;p40"/>
          <p:cNvSpPr txBox="1"/>
          <p:nvPr>
            <p:ph idx="1" type="body"/>
          </p:nvPr>
        </p:nvSpPr>
        <p:spPr>
          <a:xfrm>
            <a:off x="457200" y="1292150"/>
            <a:ext cx="8191800" cy="3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SOMMERVILLE, I. Engenharia de Software. 9 ed. São Paulo: Pearson Addison Wesley, 2011.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PRESSMAN, R. S., Engenharia de Software: Uma abordagem profissional. 7 ed. McGraw-Hill, 2011.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0" name="Google Shape;610;p4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1" name="Google Shape;6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1493" y="76200"/>
            <a:ext cx="1636300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