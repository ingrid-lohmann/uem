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aleway SemiBold"/>
      <p:regular r:id="rId34"/>
      <p:bold r:id="rId35"/>
      <p:italic r:id="rId36"/>
      <p:boldItalic r:id="rId37"/>
    </p:embeddedFont>
    <p:embeddedFont>
      <p:font typeface="Raleway"/>
      <p:regular r:id="rId38"/>
      <p:bold r:id="rId39"/>
      <p:italic r:id="rId40"/>
      <p:boldItalic r:id="rId41"/>
    </p:embeddedFont>
    <p:embeddedFont>
      <p:font typeface="Barlow Light"/>
      <p:regular r:id="rId42"/>
      <p:bold r:id="rId43"/>
      <p:italic r:id="rId44"/>
      <p:boldItalic r:id="rId45"/>
    </p:embeddedFont>
    <p:embeddedFont>
      <p:font typeface="Barlow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3E5B0B-9567-4C48-9CEE-B2218FED1B8F}">
  <a:tblStyle styleId="{833E5B0B-9567-4C48-9CEE-B2218FED1B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42" Type="http://schemas.openxmlformats.org/officeDocument/2006/relationships/font" Target="fonts/BarlowLight-regular.fntdata"/><Relationship Id="rId41" Type="http://schemas.openxmlformats.org/officeDocument/2006/relationships/font" Target="fonts/Raleway-boldItalic.fntdata"/><Relationship Id="rId44" Type="http://schemas.openxmlformats.org/officeDocument/2006/relationships/font" Target="fonts/BarlowLight-italic.fntdata"/><Relationship Id="rId43" Type="http://schemas.openxmlformats.org/officeDocument/2006/relationships/font" Target="fonts/BarlowLight-bold.fntdata"/><Relationship Id="rId46" Type="http://schemas.openxmlformats.org/officeDocument/2006/relationships/font" Target="fonts/Barlow-regular.fntdata"/><Relationship Id="rId45" Type="http://schemas.openxmlformats.org/officeDocument/2006/relationships/font" Target="fonts/BarlowLigh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arlow-italic.fntdata"/><Relationship Id="rId47" Type="http://schemas.openxmlformats.org/officeDocument/2006/relationships/font" Target="fonts/Barlow-bold.fntdata"/><Relationship Id="rId49" Type="http://schemas.openxmlformats.org/officeDocument/2006/relationships/font" Target="fonts/Barl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alewaySemiBold-bold.fntdata"/><Relationship Id="rId34" Type="http://schemas.openxmlformats.org/officeDocument/2006/relationships/font" Target="fonts/RalewaySemiBold-regular.fntdata"/><Relationship Id="rId37" Type="http://schemas.openxmlformats.org/officeDocument/2006/relationships/font" Target="fonts/RalewaySemiBold-boldItalic.fntdata"/><Relationship Id="rId36" Type="http://schemas.openxmlformats.org/officeDocument/2006/relationships/font" Target="fonts/RalewaySemiBold-italic.fntdata"/><Relationship Id="rId39" Type="http://schemas.openxmlformats.org/officeDocument/2006/relationships/font" Target="fonts/Raleway-bold.fntdata"/><Relationship Id="rId38" Type="http://schemas.openxmlformats.org/officeDocument/2006/relationships/font" Target="fonts/Raleway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612b1ee2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612b1ee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d4901bdf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ed4901bd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612b1ee2f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612b1ee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a38d29a41_0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a38d29a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a38d29a41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a38d29a4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a38d29a41_0_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a38d29a4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a38d29a41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fa38d29a4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fa38d29a41_0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fa38d29a4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a38d29a41_0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a38d29a4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a38d29a41_0_1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a38d29a4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a38d29a41_0_1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fa38d29a4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a38d29a41_0_1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a38d29a4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fa38d29a41_0_1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fa38d29a4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fa38d29a41_0_2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fa38d29a4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fa38d29a41_0_2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fa38d29a4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fa38d29a41_0_2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fa38d29a41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fa38d29a41_0_2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fa38d29a41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fa38d29a41_0_2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fa38d29a41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fa38d29a41_0_2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fa38d29a41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fa38d29a41_0_3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fa38d29a4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fa38d29a41_0_3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fa38d29a41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fa38d29a41_0_3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fa38d29a41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fa38d29a41_0_3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fa38d29a4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fa38d29a41_0_3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fa38d29a4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a38d29a41_0_3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a38d29a41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aba3672d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aba3672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9aba3672d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9aba3672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86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ctrTitle"/>
          </p:nvPr>
        </p:nvSpPr>
        <p:spPr>
          <a:xfrm>
            <a:off x="1076325" y="1863600"/>
            <a:ext cx="66723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Processos de Software e Engenharia de Requisitos</a:t>
            </a:r>
            <a:endParaRPr/>
          </a:p>
        </p:txBody>
      </p:sp>
      <p:sp>
        <p:nvSpPr>
          <p:cNvPr id="64" name="Google Shape;64;p12"/>
          <p:cNvSpPr txBox="1"/>
          <p:nvPr>
            <p:ph type="ctrTitle"/>
          </p:nvPr>
        </p:nvSpPr>
        <p:spPr>
          <a:xfrm>
            <a:off x="1076325" y="3642500"/>
            <a:ext cx="6305700" cy="12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Aula 9 - Especificação de Requisitos / Caso de Uso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passada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Elicitação de requisitos;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de hoje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Especificação de requisitos.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Diagrama de casos de uso.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Especificação de Requisitos</a:t>
            </a:r>
            <a:endParaRPr sz="4100"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A especificação é 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descrição sistemática e abstrata do que o software deve fazer</a:t>
            </a:r>
            <a:r>
              <a:rPr lang="en"/>
              <a:t> a partir daquilo que foi analisado anteriormente.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Apresenta a solução</a:t>
            </a:r>
            <a:r>
              <a:rPr lang="en"/>
              <a:t> de como os problemas levantados na análise devem ser resolvidos pelo software em desenvolvimento.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Especificar um requisito implica em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 compreender exatamente o que deve ser feito e que se espera receber como resultado</a:t>
            </a:r>
            <a:r>
              <a:rPr lang="en"/>
              <a:t>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Caso de Uso</a:t>
            </a:r>
            <a:endParaRPr sz="4100"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Técnica utilizada para a especificação dos requisitos funcionais de um software.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 requisito pode referir-se a mais de um caso de uso.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 caso de uso pode referir-se a mais de um requisito.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 comportamento do software é documentado em um modelo de Caso de Uso que ilustra as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funcionalidades existentes no software</a:t>
            </a:r>
            <a:r>
              <a:rPr lang="en"/>
              <a:t> (Casos de Uso),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suas fronteiras </a:t>
            </a:r>
            <a:r>
              <a:rPr lang="en"/>
              <a:t>(Atores) e os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relacionamentos entre os Casos de Uso e os Atores</a:t>
            </a:r>
            <a:r>
              <a:rPr lang="en"/>
              <a:t> (Diagramas de Caso de Uso).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UML (Unified Modeling Language)</a:t>
            </a:r>
            <a:endParaRPr sz="4100"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A UML é uma linguagem padrão para modelagem de sistemas.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Esta linguagem de modelagem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não é um método</a:t>
            </a:r>
            <a:r>
              <a:rPr lang="en"/>
              <a:t> de desenvolvimento.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Têm como papel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auxiliar a visualização</a:t>
            </a:r>
            <a:r>
              <a:rPr lang="en"/>
              <a:t> do desenho e a comunicação entre objetos.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Ela permite que desenvolvedores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visualizem os produtos </a:t>
            </a:r>
            <a:r>
              <a:rPr lang="en"/>
              <a:t>de seu trabalho em diagramas padronizados.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Além disso, fornece a tecnologia necessária para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apoiar a prática </a:t>
            </a:r>
            <a:r>
              <a:rPr lang="en"/>
              <a:t>de engenharia de software;</a:t>
            </a:r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UML (Unified Modeling Language)</a:t>
            </a:r>
            <a:endParaRPr sz="4100"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Os diagramas da UML estão divididos em: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b="1" i="1" lang="en" u="sng">
                <a:latin typeface="Barlow"/>
                <a:ea typeface="Barlow"/>
                <a:cs typeface="Barlow"/>
                <a:sym typeface="Barlow"/>
              </a:rPr>
              <a:t>Estruturais</a:t>
            </a:r>
            <a:r>
              <a:rPr lang="en"/>
              <a:t>:</a:t>
            </a:r>
            <a:endParaRPr/>
          </a:p>
          <a:p>
            <a:pPr indent="-33655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b="1" lang="en" sz="1900">
                <a:latin typeface="Barlow"/>
                <a:ea typeface="Barlow"/>
                <a:cs typeface="Barlow"/>
                <a:sym typeface="Barlow"/>
              </a:rPr>
              <a:t>De Classe</a:t>
            </a:r>
            <a:r>
              <a:rPr lang="en" sz="1900"/>
              <a:t>: mostra o conjunto de classes com seus atributos e métodos e os relacionamentos entre classes.</a:t>
            </a:r>
            <a:endParaRPr sz="1900"/>
          </a:p>
          <a:p>
            <a:pPr indent="-33655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b="1" lang="en" sz="1900">
                <a:latin typeface="Barlow"/>
                <a:ea typeface="Barlow"/>
                <a:cs typeface="Barlow"/>
                <a:sym typeface="Barlow"/>
              </a:rPr>
              <a:t>De Objeto</a:t>
            </a:r>
            <a:r>
              <a:rPr lang="en" sz="1900"/>
              <a:t>: fornece uma visão dos valores armazenados pelos objetos de um Diagrama de Classe em um determinado momento da execução do processo do software.</a:t>
            </a:r>
            <a:endParaRPr sz="1900"/>
          </a:p>
          <a:p>
            <a:pPr indent="-33655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b="1" lang="en" sz="1900">
                <a:latin typeface="Barlow"/>
                <a:ea typeface="Barlow"/>
                <a:cs typeface="Barlow"/>
                <a:sym typeface="Barlow"/>
              </a:rPr>
              <a:t>De Componentes</a:t>
            </a:r>
            <a:r>
              <a:rPr lang="en" sz="1900"/>
              <a:t>: está associado à linguagem de programação e tem por finalidade indicar os componentes do software e seus relacionamentos.</a:t>
            </a:r>
            <a:endParaRPr sz="1900"/>
          </a:p>
          <a:p>
            <a:pPr indent="-33655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b="1" lang="en" sz="1900">
                <a:latin typeface="Barlow"/>
                <a:ea typeface="Barlow"/>
                <a:cs typeface="Barlow"/>
                <a:sym typeface="Barlow"/>
              </a:rPr>
              <a:t>De Implantação</a:t>
            </a:r>
            <a:r>
              <a:rPr lang="en" sz="1900"/>
              <a:t>: determina as necessidades de hardware e características físicas do Sistema.</a:t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UML (Unified Modeling Language)</a:t>
            </a:r>
            <a:endParaRPr sz="4100"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Os diagramas da UML estão divididos em: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b="1" i="1" lang="en" u="sng">
                <a:latin typeface="Barlow"/>
                <a:ea typeface="Barlow"/>
                <a:cs typeface="Barlow"/>
                <a:sym typeface="Barlow"/>
              </a:rPr>
              <a:t>Comportamentais</a:t>
            </a:r>
            <a:endParaRPr b="1" i="1" u="sng">
              <a:latin typeface="Barlow"/>
              <a:ea typeface="Barlow"/>
              <a:cs typeface="Barlow"/>
              <a:sym typeface="Barlow"/>
            </a:endParaRPr>
          </a:p>
          <a:p>
            <a:pPr indent="-355600" lvl="3" marL="1828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 Caso de Uso (Use Case)</a:t>
            </a:r>
            <a:r>
              <a:rPr lang="en"/>
              <a:t>: para fases de levantamento e análise de Requisitos do Sistema.</a:t>
            </a:r>
            <a:endParaRPr/>
          </a:p>
          <a:p>
            <a:pPr indent="-355600" lvl="3" marL="1828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 Atividades</a:t>
            </a:r>
            <a:r>
              <a:rPr lang="en"/>
              <a:t>: descreve os passos a serem percorridos para a conclusão de uma atividade.</a:t>
            </a:r>
            <a:endParaRPr/>
          </a:p>
          <a:p>
            <a:pPr indent="-355600" lvl="3" marL="1828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 Estados</a:t>
            </a:r>
            <a:r>
              <a:rPr lang="en"/>
              <a:t>: procura acompanhar as mudanças sofridas por um objeto dentro de um processo.</a:t>
            </a:r>
            <a:endParaRPr/>
          </a:p>
          <a:p>
            <a:pPr indent="-355600" lvl="3" marL="1828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▹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 Sequência</a:t>
            </a:r>
            <a:r>
              <a:rPr lang="en"/>
              <a:t>: descreve a ordem temporal em que as mensagens são trocadas entre os objetos.</a:t>
            </a:r>
            <a:endParaRPr/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Diagrama de Casos de Uso</a:t>
            </a:r>
            <a:endParaRPr sz="4100"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Objetivo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Mostram a visão estática do caso de uso 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 visão dinâmica do caso de uso é especificada através da descrição/especificação dos casos de uso.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Permitem uma visão geral dos relacionamentos entre casos de uso e atores de um sistema. 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Podem conter também notas, restrições e pacotes.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Elementos do Diagrama</a:t>
            </a:r>
            <a:endParaRPr sz="4100"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21"/>
          <p:cNvGraphicFramePr/>
          <p:nvPr/>
        </p:nvGraphicFramePr>
        <p:xfrm>
          <a:off x="723738" y="141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{833E5B0B-9567-4C48-9CEE-B2218FED1B8F}</a:tableStyleId>
              </a:tblPr>
              <a:tblGrid>
                <a:gridCol w="1161625"/>
                <a:gridCol w="6534900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Ator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Elemento externo do sistema que sempre inicia o uso ou recebe um valor de caso de uso. Pode ser um humano ou outro sistema.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Caso de uso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Serviço que o sistema fornece aos usuários.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Interação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Estímulos recebidos pelo sistema.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Sistema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Contexto aonde o caso de uso é utilizado (corresponde a uma classe ou um conjunto de classes).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1"/>
          <p:cNvSpPr/>
          <p:nvPr/>
        </p:nvSpPr>
        <p:spPr>
          <a:xfrm>
            <a:off x="4459124" y="3536800"/>
            <a:ext cx="2119200" cy="1413000"/>
          </a:xfrm>
          <a:prstGeom prst="rect">
            <a:avLst/>
          </a:prstGeom>
          <a:solidFill>
            <a:srgbClr val="FFD05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21"/>
          <p:cNvGrpSpPr/>
          <p:nvPr/>
        </p:nvGrpSpPr>
        <p:grpSpPr>
          <a:xfrm>
            <a:off x="2815588" y="3766026"/>
            <a:ext cx="3608709" cy="1377474"/>
            <a:chOff x="1008" y="2564"/>
            <a:chExt cx="2548" cy="973"/>
          </a:xfrm>
        </p:grpSpPr>
        <p:grpSp>
          <p:nvGrpSpPr>
            <p:cNvPr id="140" name="Google Shape;140;p21"/>
            <p:cNvGrpSpPr/>
            <p:nvPr/>
          </p:nvGrpSpPr>
          <p:grpSpPr>
            <a:xfrm>
              <a:off x="2356" y="2614"/>
              <a:ext cx="1200" cy="600"/>
              <a:chOff x="2356" y="2614"/>
              <a:chExt cx="1200" cy="600"/>
            </a:xfrm>
          </p:grpSpPr>
          <p:sp>
            <p:nvSpPr>
              <p:cNvPr id="141" name="Google Shape;141;p21"/>
              <p:cNvSpPr/>
              <p:nvPr/>
            </p:nvSpPr>
            <p:spPr>
              <a:xfrm>
                <a:off x="2356" y="2614"/>
                <a:ext cx="1200" cy="6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1"/>
              <p:cNvSpPr txBox="1"/>
              <p:nvPr/>
            </p:nvSpPr>
            <p:spPr>
              <a:xfrm>
                <a:off x="2411" y="2763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Caso de Uso</a:t>
                </a:r>
                <a:endParaRPr/>
              </a:p>
            </p:txBody>
          </p:sp>
        </p:grpSp>
        <p:grpSp>
          <p:nvGrpSpPr>
            <p:cNvPr id="143" name="Google Shape;143;p21"/>
            <p:cNvGrpSpPr/>
            <p:nvPr/>
          </p:nvGrpSpPr>
          <p:grpSpPr>
            <a:xfrm>
              <a:off x="1008" y="2564"/>
              <a:ext cx="900" cy="973"/>
              <a:chOff x="1008" y="2564"/>
              <a:chExt cx="900" cy="973"/>
            </a:xfrm>
          </p:grpSpPr>
          <p:grpSp>
            <p:nvGrpSpPr>
              <p:cNvPr id="144" name="Google Shape;144;p21"/>
              <p:cNvGrpSpPr/>
              <p:nvPr/>
            </p:nvGrpSpPr>
            <p:grpSpPr>
              <a:xfrm>
                <a:off x="1106" y="2564"/>
                <a:ext cx="525" cy="634"/>
                <a:chOff x="1668" y="2544"/>
                <a:chExt cx="600" cy="876"/>
              </a:xfrm>
            </p:grpSpPr>
            <p:sp>
              <p:nvSpPr>
                <p:cNvPr id="145" name="Google Shape;145;p21"/>
                <p:cNvSpPr/>
                <p:nvPr/>
              </p:nvSpPr>
              <p:spPr>
                <a:xfrm>
                  <a:off x="1872" y="2544"/>
                  <a:ext cx="300" cy="300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00">
                    <a:solidFill>
                      <a:srgbClr val="5A637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6" name="Google Shape;146;p21"/>
                <p:cNvCxnSpPr/>
                <p:nvPr/>
              </p:nvCxnSpPr>
              <p:spPr>
                <a:xfrm>
                  <a:off x="1968" y="2783"/>
                  <a:ext cx="0" cy="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21"/>
                <p:cNvCxnSpPr/>
                <p:nvPr/>
              </p:nvCxnSpPr>
              <p:spPr>
                <a:xfrm flipH="1">
                  <a:off x="1668" y="3120"/>
                  <a:ext cx="300" cy="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21"/>
                <p:cNvCxnSpPr/>
                <p:nvPr/>
              </p:nvCxnSpPr>
              <p:spPr>
                <a:xfrm>
                  <a:off x="1968" y="3120"/>
                  <a:ext cx="300" cy="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21"/>
                <p:cNvCxnSpPr/>
                <p:nvPr/>
              </p:nvCxnSpPr>
              <p:spPr>
                <a:xfrm>
                  <a:off x="1776" y="2880"/>
                  <a:ext cx="3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0" name="Google Shape;150;p21"/>
              <p:cNvSpPr txBox="1"/>
              <p:nvPr/>
            </p:nvSpPr>
            <p:spPr>
              <a:xfrm>
                <a:off x="1008" y="3237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Ator</a:t>
                </a:r>
                <a:endParaRPr/>
              </a:p>
            </p:txBody>
          </p:sp>
        </p:grpSp>
      </p:grpSp>
      <p:cxnSp>
        <p:nvCxnSpPr>
          <p:cNvPr id="151" name="Google Shape;151;p21"/>
          <p:cNvCxnSpPr/>
          <p:nvPr/>
        </p:nvCxnSpPr>
        <p:spPr>
          <a:xfrm>
            <a:off x="3624313" y="4307390"/>
            <a:ext cx="102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21"/>
          <p:cNvSpPr txBox="1"/>
          <p:nvPr/>
        </p:nvSpPr>
        <p:spPr>
          <a:xfrm>
            <a:off x="3688524" y="4012625"/>
            <a:ext cx="9027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Interação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5615014" y="3601016"/>
            <a:ext cx="9630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Relacionamento entre Atores</a:t>
            </a:r>
            <a:endParaRPr sz="4100"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441150" y="126760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 relacionamento padrão entre os atores é 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Generalização.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É considerado quando temos dois atores semelhantes, mas com um deles realizando algo a mais 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 generalização pode ser sempre lida como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“é-um-tipo-de”</a:t>
            </a:r>
            <a:r>
              <a:rPr lang="en"/>
              <a:t> 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22"/>
          <p:cNvGrpSpPr/>
          <p:nvPr/>
        </p:nvGrpSpPr>
        <p:grpSpPr>
          <a:xfrm>
            <a:off x="1443575" y="2811125"/>
            <a:ext cx="1134125" cy="887828"/>
            <a:chOff x="953" y="2562"/>
            <a:chExt cx="1200" cy="975"/>
          </a:xfrm>
        </p:grpSpPr>
        <p:grpSp>
          <p:nvGrpSpPr>
            <p:cNvPr id="163" name="Google Shape;163;p22"/>
            <p:cNvGrpSpPr/>
            <p:nvPr/>
          </p:nvGrpSpPr>
          <p:grpSpPr>
            <a:xfrm>
              <a:off x="1109" y="2562"/>
              <a:ext cx="526" cy="634"/>
              <a:chOff x="1668" y="2544"/>
              <a:chExt cx="600" cy="876"/>
            </a:xfrm>
          </p:grpSpPr>
          <p:sp>
            <p:nvSpPr>
              <p:cNvPr id="164" name="Google Shape;164;p22"/>
              <p:cNvSpPr/>
              <p:nvPr/>
            </p:nvSpPr>
            <p:spPr>
              <a:xfrm>
                <a:off x="1872" y="2544"/>
                <a:ext cx="300" cy="300"/>
              </a:xfrm>
              <a:prstGeom prst="ellipse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5" name="Google Shape;165;p22"/>
              <p:cNvCxnSpPr/>
              <p:nvPr/>
            </p:nvCxnSpPr>
            <p:spPr>
              <a:xfrm>
                <a:off x="1968" y="2783"/>
                <a:ext cx="0" cy="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22"/>
              <p:cNvCxnSpPr/>
              <p:nvPr/>
            </p:nvCxnSpPr>
            <p:spPr>
              <a:xfrm flipH="1">
                <a:off x="1668" y="3120"/>
                <a:ext cx="300" cy="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22"/>
              <p:cNvCxnSpPr/>
              <p:nvPr/>
            </p:nvCxnSpPr>
            <p:spPr>
              <a:xfrm>
                <a:off x="1968" y="3120"/>
                <a:ext cx="300" cy="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22"/>
              <p:cNvCxnSpPr/>
              <p:nvPr/>
            </p:nvCxnSpPr>
            <p:spPr>
              <a:xfrm>
                <a:off x="1776" y="2880"/>
                <a:ext cx="3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9" name="Google Shape;169;p22"/>
            <p:cNvSpPr txBox="1"/>
            <p:nvPr/>
          </p:nvSpPr>
          <p:spPr>
            <a:xfrm>
              <a:off x="953" y="3237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Funcionário</a:t>
              </a:r>
              <a:endParaRPr/>
            </a:p>
          </p:txBody>
        </p:sp>
      </p:grpSp>
      <p:grpSp>
        <p:nvGrpSpPr>
          <p:cNvPr id="170" name="Google Shape;170;p22"/>
          <p:cNvGrpSpPr/>
          <p:nvPr/>
        </p:nvGrpSpPr>
        <p:grpSpPr>
          <a:xfrm>
            <a:off x="1503551" y="4306603"/>
            <a:ext cx="812749" cy="836897"/>
            <a:chOff x="1008" y="2560"/>
            <a:chExt cx="900" cy="977"/>
          </a:xfrm>
        </p:grpSpPr>
        <p:grpSp>
          <p:nvGrpSpPr>
            <p:cNvPr id="171" name="Google Shape;171;p22"/>
            <p:cNvGrpSpPr/>
            <p:nvPr/>
          </p:nvGrpSpPr>
          <p:grpSpPr>
            <a:xfrm>
              <a:off x="1109" y="2560"/>
              <a:ext cx="526" cy="634"/>
              <a:chOff x="1668" y="2544"/>
              <a:chExt cx="600" cy="876"/>
            </a:xfrm>
          </p:grpSpPr>
          <p:sp>
            <p:nvSpPr>
              <p:cNvPr id="172" name="Google Shape;172;p22"/>
              <p:cNvSpPr/>
              <p:nvPr/>
            </p:nvSpPr>
            <p:spPr>
              <a:xfrm>
                <a:off x="1872" y="2544"/>
                <a:ext cx="300" cy="300"/>
              </a:xfrm>
              <a:prstGeom prst="ellipse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" name="Google Shape;173;p22"/>
              <p:cNvCxnSpPr/>
              <p:nvPr/>
            </p:nvCxnSpPr>
            <p:spPr>
              <a:xfrm>
                <a:off x="1968" y="2783"/>
                <a:ext cx="0" cy="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22"/>
              <p:cNvCxnSpPr/>
              <p:nvPr/>
            </p:nvCxnSpPr>
            <p:spPr>
              <a:xfrm flipH="1">
                <a:off x="1668" y="3120"/>
                <a:ext cx="300" cy="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22"/>
              <p:cNvCxnSpPr/>
              <p:nvPr/>
            </p:nvCxnSpPr>
            <p:spPr>
              <a:xfrm>
                <a:off x="1968" y="3120"/>
                <a:ext cx="300" cy="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22"/>
              <p:cNvCxnSpPr/>
              <p:nvPr/>
            </p:nvCxnSpPr>
            <p:spPr>
              <a:xfrm>
                <a:off x="1776" y="2880"/>
                <a:ext cx="3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7" name="Google Shape;177;p22"/>
            <p:cNvSpPr txBox="1"/>
            <p:nvPr/>
          </p:nvSpPr>
          <p:spPr>
            <a:xfrm>
              <a:off x="1008" y="323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Gerente</a:t>
              </a:r>
              <a:endPara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8" name="Google Shape;178;p22"/>
          <p:cNvCxnSpPr/>
          <p:nvPr/>
        </p:nvCxnSpPr>
        <p:spPr>
          <a:xfrm rot="-5400000">
            <a:off x="1563374" y="3947684"/>
            <a:ext cx="59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2712475" y="3167125"/>
            <a:ext cx="4963800" cy="16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Um ator, Gerente, herda o perfil de outro ator, Funcionário.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 gerente é um funcionário, mas um funcionário não é um gerente.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Relacionamento entre Atores</a:t>
            </a:r>
            <a:endParaRPr sz="4100"/>
          </a:p>
        </p:txBody>
      </p:sp>
      <p:sp>
        <p:nvSpPr>
          <p:cNvPr id="185" name="Google Shape;185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0151" y="1470737"/>
            <a:ext cx="4103688" cy="340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Atores e Caso de Uso </a:t>
            </a:r>
            <a:endParaRPr sz="4100"/>
          </a:p>
        </p:txBody>
      </p:sp>
      <p:sp>
        <p:nvSpPr>
          <p:cNvPr id="193" name="Google Shape;193;p24"/>
          <p:cNvSpPr txBox="1"/>
          <p:nvPr>
            <p:ph idx="1" type="body"/>
          </p:nvPr>
        </p:nvSpPr>
        <p:spPr>
          <a:xfrm>
            <a:off x="441150" y="126760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Associação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lang="en"/>
              <a:t>A associação representa a interação do ator com o caso de uso, por meio de envio e recebimento de mensagens;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▹"/>
            </a:pPr>
            <a:r>
              <a:rPr lang="en"/>
              <a:t>As associações servem para mostrar quais atores se </a:t>
            </a:r>
            <a:r>
              <a:rPr lang="en"/>
              <a:t>c</a:t>
            </a:r>
            <a:r>
              <a:rPr lang="en"/>
              <a:t>omunicam com o caso de uso em questão.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24"/>
          <p:cNvGrpSpPr/>
          <p:nvPr/>
        </p:nvGrpSpPr>
        <p:grpSpPr>
          <a:xfrm>
            <a:off x="2548709" y="3210539"/>
            <a:ext cx="4046583" cy="1547812"/>
            <a:chOff x="1008" y="2562"/>
            <a:chExt cx="2548" cy="975"/>
          </a:xfrm>
        </p:grpSpPr>
        <p:grpSp>
          <p:nvGrpSpPr>
            <p:cNvPr id="197" name="Google Shape;197;p24"/>
            <p:cNvGrpSpPr/>
            <p:nvPr/>
          </p:nvGrpSpPr>
          <p:grpSpPr>
            <a:xfrm>
              <a:off x="2356" y="2614"/>
              <a:ext cx="1200" cy="600"/>
              <a:chOff x="2356" y="2614"/>
              <a:chExt cx="1200" cy="600"/>
            </a:xfrm>
          </p:grpSpPr>
          <p:sp>
            <p:nvSpPr>
              <p:cNvPr id="198" name="Google Shape;198;p24"/>
              <p:cNvSpPr/>
              <p:nvPr/>
            </p:nvSpPr>
            <p:spPr>
              <a:xfrm>
                <a:off x="2356" y="2614"/>
                <a:ext cx="1200" cy="600"/>
              </a:xfrm>
              <a:prstGeom prst="ellipse">
                <a:avLst/>
              </a:prstGeom>
              <a:solidFill>
                <a:srgbClr val="FFD05D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4"/>
              <p:cNvSpPr txBox="1"/>
              <p:nvPr/>
            </p:nvSpPr>
            <p:spPr>
              <a:xfrm>
                <a:off x="2411" y="2810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Matricular Aluno</a:t>
                </a:r>
                <a:endParaRPr/>
              </a:p>
            </p:txBody>
          </p:sp>
        </p:grpSp>
        <p:grpSp>
          <p:nvGrpSpPr>
            <p:cNvPr id="200" name="Google Shape;200;p24"/>
            <p:cNvGrpSpPr/>
            <p:nvPr/>
          </p:nvGrpSpPr>
          <p:grpSpPr>
            <a:xfrm>
              <a:off x="1008" y="2562"/>
              <a:ext cx="900" cy="975"/>
              <a:chOff x="1008" y="2562"/>
              <a:chExt cx="900" cy="975"/>
            </a:xfrm>
          </p:grpSpPr>
          <p:grpSp>
            <p:nvGrpSpPr>
              <p:cNvPr id="201" name="Google Shape;201;p24"/>
              <p:cNvGrpSpPr/>
              <p:nvPr/>
            </p:nvGrpSpPr>
            <p:grpSpPr>
              <a:xfrm>
                <a:off x="1109" y="2562"/>
                <a:ext cx="526" cy="634"/>
                <a:chOff x="1668" y="2544"/>
                <a:chExt cx="600" cy="876"/>
              </a:xfrm>
            </p:grpSpPr>
            <p:sp>
              <p:nvSpPr>
                <p:cNvPr id="202" name="Google Shape;202;p24"/>
                <p:cNvSpPr/>
                <p:nvPr/>
              </p:nvSpPr>
              <p:spPr>
                <a:xfrm>
                  <a:off x="1872" y="2544"/>
                  <a:ext cx="300" cy="300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00">
                    <a:solidFill>
                      <a:srgbClr val="5A637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3" name="Google Shape;203;p24"/>
                <p:cNvCxnSpPr/>
                <p:nvPr/>
              </p:nvCxnSpPr>
              <p:spPr>
                <a:xfrm>
                  <a:off x="1968" y="2783"/>
                  <a:ext cx="0" cy="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4" name="Google Shape;204;p24"/>
                <p:cNvCxnSpPr/>
                <p:nvPr/>
              </p:nvCxnSpPr>
              <p:spPr>
                <a:xfrm flipH="1">
                  <a:off x="1668" y="3120"/>
                  <a:ext cx="300" cy="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5" name="Google Shape;205;p24"/>
                <p:cNvCxnSpPr/>
                <p:nvPr/>
              </p:nvCxnSpPr>
              <p:spPr>
                <a:xfrm>
                  <a:off x="1968" y="3120"/>
                  <a:ext cx="300" cy="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" name="Google Shape;206;p24"/>
                <p:cNvCxnSpPr/>
                <p:nvPr/>
              </p:nvCxnSpPr>
              <p:spPr>
                <a:xfrm>
                  <a:off x="1776" y="2880"/>
                  <a:ext cx="3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07" name="Google Shape;207;p24"/>
              <p:cNvSpPr txBox="1"/>
              <p:nvPr/>
            </p:nvSpPr>
            <p:spPr>
              <a:xfrm>
                <a:off x="1008" y="3237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Secretaria</a:t>
                </a:r>
                <a:endParaRPr/>
              </a:p>
            </p:txBody>
          </p:sp>
        </p:grpSp>
      </p:grpSp>
      <p:cxnSp>
        <p:nvCxnSpPr>
          <p:cNvPr id="208" name="Google Shape;208;p24"/>
          <p:cNvCxnSpPr/>
          <p:nvPr/>
        </p:nvCxnSpPr>
        <p:spPr>
          <a:xfrm>
            <a:off x="3455563" y="3748776"/>
            <a:ext cx="1152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Atores e Caso de Uso </a:t>
            </a:r>
            <a:endParaRPr sz="4100"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441150" y="126760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Uma associação representa 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existência de interações</a:t>
            </a:r>
            <a:r>
              <a:rPr lang="en"/>
              <a:t> entre o ator e o sistema: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Ator envia informações para o sistema.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Ator recebe informações do sistema.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Ator envia e recebe informações.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Um caso de uso é iniciado por um ator</a:t>
            </a:r>
            <a:r>
              <a:rPr lang="en"/>
              <a:t>, direta ou indiretamente.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Uma vez iniciado, outros atores podem participar do caso de uso desde que as interações de cada ator com o sistema sejam diferenciadas.</a:t>
            </a:r>
            <a:endParaRPr/>
          </a:p>
        </p:txBody>
      </p:sp>
      <p:sp>
        <p:nvSpPr>
          <p:cNvPr id="215" name="Google Shape;215;p2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Atores e Caso de Uso </a:t>
            </a:r>
            <a:endParaRPr sz="4100"/>
          </a:p>
        </p:txBody>
      </p:sp>
      <p:sp>
        <p:nvSpPr>
          <p:cNvPr id="222" name="Google Shape;222;p26"/>
          <p:cNvSpPr txBox="1"/>
          <p:nvPr>
            <p:ph idx="1" type="body"/>
          </p:nvPr>
        </p:nvSpPr>
        <p:spPr>
          <a:xfrm>
            <a:off x="441150" y="126760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Direção (opcional)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Cada papel de uma associação tem uma propriedade de navegabilidade, que indica quem inicia a comunicação na interação.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 direção é representada no diagrama por uma seta: 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Se a seta apontar para um caso de uso – o ator inicia a interação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Se a seta apontar para o ator – o sistema inicia a interação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 navegabilidade de duas direções é mostrada por uma linha sem setas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Também é possível usar setas bidirecionais</a:t>
            </a:r>
            <a:endParaRPr/>
          </a:p>
        </p:txBody>
      </p:sp>
      <p:sp>
        <p:nvSpPr>
          <p:cNvPr id="223" name="Google Shape;223;p2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Diagrama de Caso de Uso</a:t>
            </a:r>
            <a:endParaRPr sz="4100"/>
          </a:p>
        </p:txBody>
      </p:sp>
      <p:sp>
        <p:nvSpPr>
          <p:cNvPr id="230" name="Google Shape;230;p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647" y="1341800"/>
            <a:ext cx="4634515" cy="29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/>
        </p:nvSpPr>
        <p:spPr>
          <a:xfrm>
            <a:off x="1498235" y="2663208"/>
            <a:ext cx="12066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Atores </a:t>
            </a:r>
            <a:endParaRPr/>
          </a:p>
        </p:txBody>
      </p:sp>
      <p:cxnSp>
        <p:nvCxnSpPr>
          <p:cNvPr id="234" name="Google Shape;234;p27"/>
          <p:cNvCxnSpPr/>
          <p:nvPr/>
        </p:nvCxnSpPr>
        <p:spPr>
          <a:xfrm flipH="1">
            <a:off x="2302753" y="2203587"/>
            <a:ext cx="631800" cy="459600"/>
          </a:xfrm>
          <a:prstGeom prst="straightConnector1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5" name="Google Shape;235;p27"/>
          <p:cNvCxnSpPr/>
          <p:nvPr/>
        </p:nvCxnSpPr>
        <p:spPr>
          <a:xfrm rot="10800000">
            <a:off x="2360204" y="2835737"/>
            <a:ext cx="631800" cy="516900"/>
          </a:xfrm>
          <a:prstGeom prst="straightConnector1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6" name="Google Shape;236;p27"/>
          <p:cNvSpPr txBox="1"/>
          <p:nvPr/>
        </p:nvSpPr>
        <p:spPr>
          <a:xfrm>
            <a:off x="6439164" y="1686514"/>
            <a:ext cx="12066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/>
          </a:p>
        </p:txBody>
      </p:sp>
      <p:cxnSp>
        <p:nvCxnSpPr>
          <p:cNvPr id="237" name="Google Shape;237;p27"/>
          <p:cNvCxnSpPr/>
          <p:nvPr/>
        </p:nvCxnSpPr>
        <p:spPr>
          <a:xfrm flipH="1" rot="10800000">
            <a:off x="5807186" y="1858882"/>
            <a:ext cx="804300" cy="229800"/>
          </a:xfrm>
          <a:prstGeom prst="straightConnector1">
            <a:avLst/>
          </a:prstGeom>
          <a:noFill/>
          <a:ln cap="flat" cmpd="sng" w="9525">
            <a:solidFill>
              <a:srgbClr val="5AB1C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8" name="Google Shape;238;p27"/>
          <p:cNvCxnSpPr/>
          <p:nvPr/>
        </p:nvCxnSpPr>
        <p:spPr>
          <a:xfrm flipH="1" rot="10800000">
            <a:off x="5749733" y="1981465"/>
            <a:ext cx="984300" cy="854100"/>
          </a:xfrm>
          <a:prstGeom prst="straightConnector1">
            <a:avLst/>
          </a:prstGeom>
          <a:noFill/>
          <a:ln cap="flat" cmpd="sng" w="9525">
            <a:solidFill>
              <a:srgbClr val="5AB1C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9" name="Google Shape;239;p27"/>
          <p:cNvCxnSpPr/>
          <p:nvPr/>
        </p:nvCxnSpPr>
        <p:spPr>
          <a:xfrm rot="5400000">
            <a:off x="2905951" y="3611230"/>
            <a:ext cx="1493700" cy="6318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0" name="Google Shape;240;p27"/>
          <p:cNvCxnSpPr/>
          <p:nvPr/>
        </p:nvCxnSpPr>
        <p:spPr>
          <a:xfrm flipH="1">
            <a:off x="3508917" y="3180280"/>
            <a:ext cx="2987700" cy="15510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1" name="Google Shape;241;p27"/>
          <p:cNvSpPr txBox="1"/>
          <p:nvPr/>
        </p:nvSpPr>
        <p:spPr>
          <a:xfrm>
            <a:off x="2187667" y="4731497"/>
            <a:ext cx="12066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Associações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Diagrama de Caso de Uso</a:t>
            </a:r>
            <a:endParaRPr sz="4100"/>
          </a:p>
        </p:txBody>
      </p:sp>
      <p:sp>
        <p:nvSpPr>
          <p:cNvPr id="247" name="Google Shape;247;p2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8" name="Google Shape;2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7388" y="1437250"/>
            <a:ext cx="4649226" cy="34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Caso de Uso</a:t>
            </a:r>
            <a:endParaRPr sz="4100"/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441150" y="126760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Extensão &lt;&lt;</a:t>
            </a:r>
            <a:r>
              <a:rPr b="1" i="1" lang="en">
                <a:latin typeface="Barlow"/>
                <a:ea typeface="Barlow"/>
                <a:cs typeface="Barlow"/>
                <a:sym typeface="Barlow"/>
              </a:rPr>
              <a:t>extend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&gt;&gt;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 ponto de extensão é uma referência a um local dentro do caso de uso no qual podem ser inseridas ações de outros casos de uso.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É usado quando um fluxo alternativo ou de exceção possui uma sequência de passos complexa ou que mereça um destaque no contexto do sistema.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Separamos o fluxo em um outro caso de uso e relacionamos os dois casos de uso com uma extensão.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Usada para extrair um comportamento que, normalmente, só ocorre se uma determinada condição for satisfeita;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6" name="Google Shape;256;p2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Caso de Uso</a:t>
            </a:r>
            <a:endParaRPr sz="4100"/>
          </a:p>
        </p:txBody>
      </p:sp>
      <p:sp>
        <p:nvSpPr>
          <p:cNvPr id="263" name="Google Shape;263;p30"/>
          <p:cNvSpPr txBox="1"/>
          <p:nvPr>
            <p:ph idx="1" type="body"/>
          </p:nvPr>
        </p:nvSpPr>
        <p:spPr>
          <a:xfrm>
            <a:off x="441150" y="1267600"/>
            <a:ext cx="33153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Exemplo usando extensão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</a:pPr>
            <a:r>
              <a:rPr lang="en" sz="1600"/>
              <a:t>Quando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B</a:t>
            </a:r>
            <a:r>
              <a:rPr lang="en" sz="1600"/>
              <a:t> estende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lang="en" sz="1600"/>
              <a:t>, significa que quando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lang="en" sz="1600"/>
              <a:t> for executado,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B poderá</a:t>
            </a:r>
            <a:r>
              <a:rPr lang="en" sz="1600"/>
              <a:t> (poderá – talvez não seja) ser executado também. A direção do relacionamento é do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extensor </a:t>
            </a:r>
            <a:r>
              <a:rPr lang="en" sz="1600"/>
              <a:t>(aqui o caso de uso B) para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estendido </a:t>
            </a:r>
            <a:r>
              <a:rPr lang="en" sz="1600"/>
              <a:t>(aqui o caso de uso A). </a:t>
            </a:r>
            <a:endParaRPr sz="1600"/>
          </a:p>
        </p:txBody>
      </p:sp>
      <p:sp>
        <p:nvSpPr>
          <p:cNvPr id="264" name="Google Shape;264;p3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625" y="1596000"/>
            <a:ext cx="5145375" cy="230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7875" y="4188474"/>
            <a:ext cx="3893250" cy="7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Caso de Uso</a:t>
            </a:r>
            <a:endParaRPr sz="4100"/>
          </a:p>
        </p:txBody>
      </p:sp>
      <p:sp>
        <p:nvSpPr>
          <p:cNvPr id="273" name="Google Shape;273;p3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93663"/>
            <a:ext cx="5118950" cy="282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0300" y="2877350"/>
            <a:ext cx="4877501" cy="20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Caso de Uso</a:t>
            </a:r>
            <a:endParaRPr sz="4100"/>
          </a:p>
        </p:txBody>
      </p:sp>
      <p:sp>
        <p:nvSpPr>
          <p:cNvPr id="282" name="Google Shape;282;p32"/>
          <p:cNvSpPr txBox="1"/>
          <p:nvPr>
            <p:ph idx="1" type="body"/>
          </p:nvPr>
        </p:nvSpPr>
        <p:spPr>
          <a:xfrm>
            <a:off x="441150" y="126760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Inclusão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&lt;&lt;</a:t>
            </a:r>
            <a:r>
              <a:rPr b="1" i="1" lang="en">
                <a:latin typeface="Barlow"/>
                <a:ea typeface="Barlow"/>
                <a:cs typeface="Barlow"/>
                <a:sym typeface="Barlow"/>
              </a:rPr>
              <a:t>include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&gt;&gt;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Indica que um caso de uso terá seu procedimento copiado num local especificado no outro caso de uso, identificado como base;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Ocorre quando há uma porção de comportamento que é similar ao longo de uma ou mais casos de uso e não se deseja repetir a sua descrição;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 caso de uso incluído pode ser executado dentro de outro (o caso de uso base) ou pode ser executado sozinho;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4" name="Google Shape;2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Caso de Uso</a:t>
            </a:r>
            <a:endParaRPr sz="4100"/>
          </a:p>
        </p:txBody>
      </p:sp>
      <p:sp>
        <p:nvSpPr>
          <p:cNvPr id="290" name="Google Shape;290;p33"/>
          <p:cNvSpPr txBox="1"/>
          <p:nvPr>
            <p:ph idx="1" type="body"/>
          </p:nvPr>
        </p:nvSpPr>
        <p:spPr>
          <a:xfrm>
            <a:off x="441150" y="1267600"/>
            <a:ext cx="86649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Exemplo usando include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</a:pPr>
            <a:r>
              <a:rPr lang="en" sz="1600"/>
              <a:t>Quando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lang="en" sz="1600"/>
              <a:t> “inclui”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B</a:t>
            </a:r>
            <a:r>
              <a:rPr lang="en" sz="1600"/>
              <a:t>, significa que sempre que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lang="en" sz="1600"/>
              <a:t> for executado,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B</a:t>
            </a:r>
            <a:r>
              <a:rPr lang="en" sz="1600"/>
              <a:t> também será executado. A direção do relacionamento é do caso de uso que está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incluindo </a:t>
            </a:r>
            <a:r>
              <a:rPr lang="en" sz="1600"/>
              <a:t>para o caso de uso </a:t>
            </a:r>
            <a:r>
              <a:rPr b="1" lang="en" sz="1600">
                <a:latin typeface="Barlow"/>
                <a:ea typeface="Barlow"/>
                <a:cs typeface="Barlow"/>
                <a:sym typeface="Barlow"/>
              </a:rPr>
              <a:t>incluído</a:t>
            </a:r>
            <a:r>
              <a:rPr lang="en" sz="1600"/>
              <a:t>.</a:t>
            </a:r>
            <a:endParaRPr sz="1600"/>
          </a:p>
        </p:txBody>
      </p:sp>
      <p:sp>
        <p:nvSpPr>
          <p:cNvPr id="291" name="Google Shape;291;p3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350" y="2973629"/>
            <a:ext cx="7453301" cy="1663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Rel. entre Caso de Uso</a:t>
            </a:r>
            <a:endParaRPr sz="4100"/>
          </a:p>
        </p:txBody>
      </p:sp>
      <p:sp>
        <p:nvSpPr>
          <p:cNvPr id="299" name="Google Shape;299;p3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0" name="Google Shape;3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575" y="1484725"/>
            <a:ext cx="45148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7099" y="3441750"/>
            <a:ext cx="4810700" cy="1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2950" y="1484728"/>
            <a:ext cx="4514851" cy="1577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Descrição formal de Casos de Uso</a:t>
            </a:r>
            <a:endParaRPr sz="4100"/>
          </a:p>
        </p:txBody>
      </p:sp>
      <p:sp>
        <p:nvSpPr>
          <p:cNvPr id="309" name="Google Shape;309;p3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0" name="Google Shape;3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" name="Google Shape;311;p35"/>
          <p:cNvGraphicFramePr/>
          <p:nvPr/>
        </p:nvGraphicFramePr>
        <p:xfrm>
          <a:off x="511100" y="123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{833E5B0B-9567-4C48-9CEE-B2218FED1B8F}</a:tableStyleId>
              </a:tblPr>
              <a:tblGrid>
                <a:gridCol w="2684525"/>
                <a:gridCol w="5687175"/>
              </a:tblGrid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Descrição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Sumário da funcionalidade do caso de uso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Atores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Atores que interagem com o caso de uso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Pré-condições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Condições pertinentes que devem valer antes da realização do caso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 uso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Fluxo principal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Apresenta a descrição para o evento que dispara o caso de uso, e a descrição para os demais eventos que compõem o fluxo básico.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Fluxo alternativo (opcional)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Descrevem os eventos que compõem os fluxos alternativos de execução.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Pós-condições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Descrevem as condições pertinentes que devem valer após a realização do caso de uso.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Regras de negócio (opcional)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Listam as regras de negócio implementadas no caso de uso.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Descrição formal de Casos de Uso</a:t>
            </a:r>
            <a:endParaRPr sz="4100"/>
          </a:p>
        </p:txBody>
      </p:sp>
      <p:sp>
        <p:nvSpPr>
          <p:cNvPr id="317" name="Google Shape;317;p3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8" name="Google Shape;3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9" name="Google Shape;319;p36"/>
          <p:cNvGraphicFramePr/>
          <p:nvPr/>
        </p:nvGraphicFramePr>
        <p:xfrm>
          <a:off x="386150" y="12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{833E5B0B-9567-4C48-9CEE-B2218FED1B8F}</a:tableStyleId>
              </a:tblPr>
              <a:tblGrid>
                <a:gridCol w="2684525"/>
                <a:gridCol w="5687175"/>
              </a:tblGrid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Caso de Uso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Realizar inscrição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Descrição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Aluno realiza inscrição em disciplinas.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Atores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Aluno e Sistema de Faturamento.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Pré-condições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</a:t>
                      </a:r>
                      <a:r>
                        <a:rPr lang="en" sz="1300"/>
                        <a:t>luno está identificado pelo sistema.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Fluxo principal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O Aluno solicita a realização de inscrição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O sistema apresenta as disciplinas disponíveis para o semestre corrente e para as quais o aluno tem pré-requisitos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O Aluno seleciona as disciplinas desejadas e as submete para inscrição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Para cada disciplina selecionada, o sistema aloca o aluno em uma turma que apresente uma oferta para tal disciplina. O sistema informa as turmas nas quais o Aluno foi alocado.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O aluno confere as informações recebidas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O sistema envia os dados sobre a inscrição do aluno para o Sistema de Faturamento e o caso de uso termina.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Descrição formal de Casos de Uso</a:t>
            </a:r>
            <a:endParaRPr sz="4100"/>
          </a:p>
        </p:txBody>
      </p:sp>
      <p:sp>
        <p:nvSpPr>
          <p:cNvPr id="325" name="Google Shape;325;p3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6" name="Google Shape;3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7" name="Google Shape;327;p37"/>
          <p:cNvGraphicFramePr/>
          <p:nvPr/>
        </p:nvGraphicFramePr>
        <p:xfrm>
          <a:off x="386150" y="12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{833E5B0B-9567-4C48-9CEE-B2218FED1B8F}</a:tableStyleId>
              </a:tblPr>
              <a:tblGrid>
                <a:gridCol w="2684525"/>
                <a:gridCol w="5687175"/>
              </a:tblGrid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Fluxo alternativo (opcional)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Se não há oferta disponível para alguma disciplina selecionada pelo aluno, o sistema reporta o fato e fornece a possibilidade de inserir o aluno em uma lista de espera.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Se o Aluno aceitar, o sistema o insere na lista de espera e apresenta a posição na qual o aluno foi inserido na lista. O caso de uso retorna ao passo 4 do fluxo principal.</a:t>
                      </a: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lang="en" sz="1300"/>
                        <a:t>Se o Aluno não aceitar, o caso de uso prossegue no passo 4 do fluxo principal.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Pós-condições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 Aluno foi inscrito em uma das turmas de cada uma das disciplinas desejadas, ou foi adicionado a uma ou mais listas de espera.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Regras de negócio (opcional)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RN01 – O aluno pode matricular-se no máximo em 6 disciplinas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Dúvidas?</a:t>
            </a:r>
            <a:endParaRPr/>
          </a:p>
        </p:txBody>
      </p:sp>
      <p:sp>
        <p:nvSpPr>
          <p:cNvPr id="333" name="Google Shape;333;p3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4" name="Google Shape;3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44967" y="1688300"/>
            <a:ext cx="1454075" cy="34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457200" y="1292150"/>
            <a:ext cx="81918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SOMMERVILLE, I. Engenharia de Software. 9 ed. São Paulo: Pearson Addison Wesley, 2011.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PRESSMAN, R. S., Engenharia de Software: Uma abordagem profissional. 7 ed. McGraw-Hill, 2011.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2" name="Google Shape;342;p3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