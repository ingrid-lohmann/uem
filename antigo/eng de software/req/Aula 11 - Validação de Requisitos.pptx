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Raleway SemiBold"/>
      <p:regular r:id="rId22"/>
      <p:bold r:id="rId23"/>
      <p:italic r:id="rId24"/>
      <p:boldItalic r:id="rId25"/>
    </p:embeddedFont>
    <p:embeddedFont>
      <p:font typeface="Raleway"/>
      <p:regular r:id="rId26"/>
      <p:bold r:id="rId27"/>
      <p:italic r:id="rId28"/>
      <p:boldItalic r:id="rId29"/>
    </p:embeddedFont>
    <p:embeddedFont>
      <p:font typeface="Barlow Light"/>
      <p:regular r:id="rId30"/>
      <p:bold r:id="rId31"/>
      <p:italic r:id="rId32"/>
      <p:boldItalic r:id="rId33"/>
    </p:embeddedFont>
    <p:embeddedFont>
      <p:font typeface="Barlow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alewaySemiBold-regular.fntdata"/><Relationship Id="rId21" Type="http://schemas.openxmlformats.org/officeDocument/2006/relationships/slide" Target="slides/slide17.xml"/><Relationship Id="rId24" Type="http://schemas.openxmlformats.org/officeDocument/2006/relationships/font" Target="fonts/RalewaySemiBold-italic.fntdata"/><Relationship Id="rId23" Type="http://schemas.openxmlformats.org/officeDocument/2006/relationships/font" Target="fonts/Raleway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regular.fntdata"/><Relationship Id="rId25" Type="http://schemas.openxmlformats.org/officeDocument/2006/relationships/font" Target="fonts/RalewaySemiBold-boldItalic.fntdata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Light-bold.fntdata"/><Relationship Id="rId30" Type="http://schemas.openxmlformats.org/officeDocument/2006/relationships/font" Target="fonts/BarlowLight-regular.fntdata"/><Relationship Id="rId11" Type="http://schemas.openxmlformats.org/officeDocument/2006/relationships/slide" Target="slides/slide7.xml"/><Relationship Id="rId33" Type="http://schemas.openxmlformats.org/officeDocument/2006/relationships/font" Target="fonts/BarlowLight-boldItalic.fntdata"/><Relationship Id="rId10" Type="http://schemas.openxmlformats.org/officeDocument/2006/relationships/slide" Target="slides/slide6.xml"/><Relationship Id="rId32" Type="http://schemas.openxmlformats.org/officeDocument/2006/relationships/font" Target="fonts/BarlowLight-italic.fntdata"/><Relationship Id="rId13" Type="http://schemas.openxmlformats.org/officeDocument/2006/relationships/slide" Target="slides/slide9.xml"/><Relationship Id="rId35" Type="http://schemas.openxmlformats.org/officeDocument/2006/relationships/font" Target="fonts/Barlow-bold.fntdata"/><Relationship Id="rId12" Type="http://schemas.openxmlformats.org/officeDocument/2006/relationships/slide" Target="slides/slide8.xml"/><Relationship Id="rId34" Type="http://schemas.openxmlformats.org/officeDocument/2006/relationships/font" Target="fonts/Barlow-regular.fntdata"/><Relationship Id="rId15" Type="http://schemas.openxmlformats.org/officeDocument/2006/relationships/slide" Target="slides/slide11.xml"/><Relationship Id="rId37" Type="http://schemas.openxmlformats.org/officeDocument/2006/relationships/font" Target="fonts/Barlow-boldItalic.fntdata"/><Relationship Id="rId14" Type="http://schemas.openxmlformats.org/officeDocument/2006/relationships/slide" Target="slides/slide10.xml"/><Relationship Id="rId36" Type="http://schemas.openxmlformats.org/officeDocument/2006/relationships/font" Target="fonts/Barlow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f612b1ee2f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f612b1ee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13e6bc4f7_0_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13e6bc4f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013e6bc4f7_0_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013e6bc4f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13e6bc4f7_0_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13e6bc4f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013e6bc4f7_0_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013e6bc4f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013e6bc4f7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013e6bc4f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13e6bc4f7_0_7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13e6bc4f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13e6bc4f7_0_1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13e6bc4f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013e6bc4f7_0_1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013e6bc4f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013e6bc4f7_0_1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013e6bc4f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013e6bc4f7_0_2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013e6bc4f7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013e6bc4f7_0_2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013e6bc4f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013e6bc4f7_0_29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013e6bc4f7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fa5ada4d2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fa5ada4d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e9aba3672d_0_1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e9aba3672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e9aba3672d_0_1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e9aba3672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indent="-431800" lvl="1" marL="914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indent="-431800" lvl="2" marL="1371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indent="-431800" lvl="3" marL="1828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indent="-431800" lvl="4" marL="2286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indent="-431800" lvl="5" marL="2743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indent="-431800" lvl="6" marL="3200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indent="-431800" lvl="7" marL="3657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indent="-431800" lvl="8" marL="4114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sz="86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8.gif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9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8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9" Type="http://schemas.openxmlformats.org/officeDocument/2006/relationships/image" Target="../media/image20.jp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8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11" Type="http://schemas.openxmlformats.org/officeDocument/2006/relationships/image" Target="../media/image11.png"/><Relationship Id="rId10" Type="http://schemas.openxmlformats.org/officeDocument/2006/relationships/image" Target="../media/image6.png"/><Relationship Id="rId12" Type="http://schemas.openxmlformats.org/officeDocument/2006/relationships/image" Target="../media/image9.png"/><Relationship Id="rId9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8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hyperlink" Target="https://marvelapp.com/" TargetMode="External"/><Relationship Id="rId5" Type="http://schemas.openxmlformats.org/officeDocument/2006/relationships/hyperlink" Target="https://www.justinmind.com/" TargetMode="External"/><Relationship Id="rId6" Type="http://schemas.openxmlformats.org/officeDocument/2006/relationships/hyperlink" Target="https://origami.design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ctrTitle"/>
          </p:nvPr>
        </p:nvSpPr>
        <p:spPr>
          <a:xfrm>
            <a:off x="1076325" y="1863600"/>
            <a:ext cx="6672300" cy="14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Processos de Software e Engenharia de Requisitos</a:t>
            </a:r>
            <a:endParaRPr/>
          </a:p>
        </p:txBody>
      </p:sp>
      <p:sp>
        <p:nvSpPr>
          <p:cNvPr id="64" name="Google Shape;64;p12"/>
          <p:cNvSpPr txBox="1"/>
          <p:nvPr>
            <p:ph type="ctrTitle"/>
          </p:nvPr>
        </p:nvSpPr>
        <p:spPr>
          <a:xfrm>
            <a:off x="1076325" y="3642500"/>
            <a:ext cx="6305700" cy="12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Aula 11 - Validação de Requisitos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Validação de Requisitos</a:t>
            </a:r>
            <a:endParaRPr sz="4100"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É o processo pelo qual se verifica se os requisitos definem o sistema que o cliente realmente quer.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É importante porque erros em um documento de requisitos podem gerar altos custos de retrabalho quando descobertos durante o desenvolvimento ou após o sistema estar em uso.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tos para Compartilhar Conhecimento: Check-list | Pulpo" id="74" name="Google Shape;7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3350" y="3364175"/>
            <a:ext cx="4437300" cy="167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Técnicas de Validação</a:t>
            </a:r>
            <a:endParaRPr sz="4100"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Revisões de requisito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▹"/>
            </a:pPr>
            <a:r>
              <a:rPr lang="en" sz="1700"/>
              <a:t>Os requisitos são analisados sistematicamente por uma equipe de revisores que verifica erros e inconsistências.</a:t>
            </a:r>
            <a:endParaRPr sz="1700"/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Prototipação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▹"/>
            </a:pPr>
            <a:r>
              <a:rPr lang="en" sz="1700"/>
              <a:t>Um modelo do sistema em questão é demonstrado para os usuários finais e clientes. Estes podem experimentar o modelo para verificar se ele atende a suas reais necessidades.</a:t>
            </a:r>
            <a:endParaRPr sz="1700"/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Geração de casos de teste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▹"/>
            </a:pPr>
            <a:r>
              <a:rPr lang="en" sz="1700"/>
              <a:t>Os requisitos devem ser testáveis. Se os testes forem concebidos como parte do processo de validação, isso frequentemente revela problemas de requisitos. Se é difícil ou impossível projetar um teste, isso normalmente significa que os requisitos serão difíceis de serem implementados e devem ser reconsiderados.</a:t>
            </a:r>
            <a:endParaRPr sz="1700"/>
          </a:p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Prototipação</a:t>
            </a:r>
            <a:endParaRPr sz="4100"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Protótipos são modelos de software que: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▹"/>
            </a:pPr>
            <a:r>
              <a:rPr lang="en" sz="1700"/>
              <a:t>Não precisam ser completos.</a:t>
            </a:r>
            <a:endParaRPr sz="1700"/>
          </a:p>
          <a:p>
            <a:pPr indent="-3238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Char char="▹"/>
            </a:pPr>
            <a:r>
              <a:rPr lang="en" sz="1700"/>
              <a:t>São construídos para permitir a discussão da equipe e validação do software pelos clientes.</a:t>
            </a:r>
            <a:endParaRPr sz="1700"/>
          </a:p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237" y="2326400"/>
            <a:ext cx="2989425" cy="27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Como criar os protótipos?</a:t>
            </a:r>
            <a:endParaRPr sz="4100"/>
          </a:p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Etapas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365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▹"/>
            </a:pPr>
            <a:r>
              <a:rPr lang="en" sz="1700"/>
              <a:t>Estabelecer os objetivos do protótipo;</a:t>
            </a:r>
            <a:endParaRPr sz="1700"/>
          </a:p>
          <a:p>
            <a:pPr indent="-3365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▹"/>
            </a:pPr>
            <a:r>
              <a:rPr lang="en" sz="1700"/>
              <a:t>Definir a funcionalidade do protótipo;</a:t>
            </a:r>
            <a:endParaRPr sz="1700"/>
          </a:p>
          <a:p>
            <a:pPr indent="-3365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▹"/>
            </a:pPr>
            <a:r>
              <a:rPr lang="en" sz="1700"/>
              <a:t>Construir o protótipo;</a:t>
            </a:r>
            <a:endParaRPr sz="1700"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Barlow"/>
              <a:buChar char="▸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Exemplo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365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▹"/>
            </a:pPr>
            <a:r>
              <a:rPr lang="en" sz="1700"/>
              <a:t>Cardápio virtual para um café</a:t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Exemplo - Protótipo Cardápio</a:t>
            </a:r>
            <a:endParaRPr sz="4100"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Etapas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3655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Barlow"/>
              <a:buChar char="▹"/>
            </a:pPr>
            <a:r>
              <a:rPr b="1" i="1" lang="en" sz="1700">
                <a:latin typeface="Barlow"/>
                <a:ea typeface="Barlow"/>
                <a:cs typeface="Barlow"/>
                <a:sym typeface="Barlow"/>
              </a:rPr>
              <a:t>Estabelecer os objetivos do protótipo</a:t>
            </a:r>
            <a:r>
              <a:rPr lang="en" sz="1700"/>
              <a:t>: protótipo descartável para validação com o cliente;</a:t>
            </a:r>
            <a:endParaRPr sz="1700"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Barlow"/>
              <a:buChar char="▹"/>
            </a:pPr>
            <a:r>
              <a:rPr b="1" i="1" lang="en" sz="1700">
                <a:latin typeface="Barlow"/>
                <a:ea typeface="Barlow"/>
                <a:cs typeface="Barlow"/>
                <a:sym typeface="Barlow"/>
              </a:rPr>
              <a:t>Definir a funcionalidade do protótipo: </a:t>
            </a:r>
            <a:r>
              <a:rPr lang="en" sz="1700"/>
              <a:t>listar produtos, fazer pedido e realizar pagamento;</a:t>
            </a:r>
            <a:endParaRPr sz="1700"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Barlow"/>
              <a:buChar char="▹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Construir o protótipo;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Exemplo - Protótipo Cardápio</a:t>
            </a:r>
            <a:endParaRPr sz="4100"/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1666860" y="1769359"/>
            <a:ext cx="6275100" cy="3137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3584259" y="2044143"/>
            <a:ext cx="3747900" cy="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Bem-Vindo ao nosso café!</a:t>
            </a:r>
            <a:endParaRPr b="1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2.bp.blogspot.com/-SFDSmFQKh-4/T7ahMckCtOI/AAAAAAAAAU0/QXfwAR_GkBA/s1600/CAFE+DO+PORTO_marca_Dia+do+Espresso+Feliz+2011.jpg" id="117" name="Google Shape;11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5993" y="1811730"/>
            <a:ext cx="1225811" cy="100348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/>
          <p:nvPr/>
        </p:nvSpPr>
        <p:spPr>
          <a:xfrm>
            <a:off x="2596508" y="3221939"/>
            <a:ext cx="1336500" cy="127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0B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9752" y="3280042"/>
            <a:ext cx="702610" cy="71924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/>
          <p:nvPr/>
        </p:nvSpPr>
        <p:spPr>
          <a:xfrm>
            <a:off x="2596508" y="4036788"/>
            <a:ext cx="13365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Bebidas Quentes</a:t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5734069" y="3221939"/>
            <a:ext cx="1336500" cy="127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0B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1783066" y="3570558"/>
            <a:ext cx="639000" cy="581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0AD00"/>
          </a:solidFill>
          <a:ln cap="flat" cmpd="sng" w="254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 rot="10800000">
            <a:off x="7244879" y="3628592"/>
            <a:ext cx="639000" cy="581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0AD00"/>
          </a:solidFill>
          <a:ln cap="flat" cmpd="sng" w="254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labpixies.com/campaigns/calories/images/dessert_icon.gif" id="124" name="Google Shape;12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66481" y="3221939"/>
            <a:ext cx="871545" cy="103915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/>
          <p:nvPr/>
        </p:nvSpPr>
        <p:spPr>
          <a:xfrm>
            <a:off x="1202037" y="1595050"/>
            <a:ext cx="929400" cy="397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66C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Tela 1</a:t>
            </a:r>
            <a:endParaRPr sz="900"/>
          </a:p>
        </p:txBody>
      </p:sp>
      <p:sp>
        <p:nvSpPr>
          <p:cNvPr id="126" name="Google Shape;126;p18"/>
          <p:cNvSpPr/>
          <p:nvPr/>
        </p:nvSpPr>
        <p:spPr>
          <a:xfrm>
            <a:off x="4165296" y="3203789"/>
            <a:ext cx="1336500" cy="127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0B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81844" y="3570558"/>
            <a:ext cx="703393" cy="4616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4281532" y="4036808"/>
            <a:ext cx="1104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Bebidas Frias</a:t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5850332" y="3999283"/>
            <a:ext cx="1104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A6378"/>
                </a:solidFill>
              </a:rPr>
              <a:t>Doces</a:t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5199" y="3426873"/>
            <a:ext cx="258425" cy="26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Exemplo - Protótipo Cardápio</a:t>
            </a:r>
            <a:endParaRPr sz="4100"/>
          </a:p>
        </p:txBody>
      </p:sp>
      <p:sp>
        <p:nvSpPr>
          <p:cNvPr id="136" name="Google Shape;136;p1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/>
          <p:nvPr/>
        </p:nvSpPr>
        <p:spPr>
          <a:xfrm>
            <a:off x="1814087" y="1740723"/>
            <a:ext cx="5957100" cy="2978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2696615" y="3119671"/>
            <a:ext cx="1268700" cy="121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0B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6326" y="1952348"/>
            <a:ext cx="762827" cy="78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3634300" y="2126829"/>
            <a:ext cx="33648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Bebidas Quentes</a:t>
            </a:r>
            <a:endParaRPr b="1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185879" y="3119671"/>
            <a:ext cx="1268700" cy="121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0B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5675144" y="3119671"/>
            <a:ext cx="1268700" cy="121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0B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1924403" y="3450619"/>
            <a:ext cx="606600" cy="551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0AD00"/>
          </a:solidFill>
          <a:ln cap="flat" cmpd="sng" w="254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 rot="10800000">
            <a:off x="7109388" y="3505955"/>
            <a:ext cx="606600" cy="551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0AD00"/>
          </a:solidFill>
          <a:ln cap="flat" cmpd="sng" w="254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2720" y="3119671"/>
            <a:ext cx="496422" cy="78088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/>
          <p:nvPr/>
        </p:nvSpPr>
        <p:spPr>
          <a:xfrm>
            <a:off x="2696615" y="3893215"/>
            <a:ext cx="12687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Café: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R$ 3.00</a:t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185879" y="3893215"/>
            <a:ext cx="12687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Leite: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R$ 2.00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675144" y="3893215"/>
            <a:ext cx="12687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Chá: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R$ 1.50</a:t>
            </a:r>
            <a:endParaRPr/>
          </a:p>
        </p:txBody>
      </p:sp>
      <p:pic>
        <p:nvPicPr>
          <p:cNvPr id="150" name="Google Shape;15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1250" y="3119671"/>
            <a:ext cx="496636" cy="752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1985" y="3119671"/>
            <a:ext cx="496421" cy="747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1372824" y="1575250"/>
            <a:ext cx="882300" cy="3771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66C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Tela 2</a:t>
            </a:r>
            <a:endParaRPr sz="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Exemplo - Protótipo Cardápio</a:t>
            </a:r>
            <a:endParaRPr sz="4100"/>
          </a:p>
        </p:txBody>
      </p:sp>
      <p:sp>
        <p:nvSpPr>
          <p:cNvPr id="158" name="Google Shape;158;p2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/>
          <p:nvPr/>
        </p:nvSpPr>
        <p:spPr>
          <a:xfrm>
            <a:off x="2040463" y="1840190"/>
            <a:ext cx="5468100" cy="2733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242983" y="2802162"/>
            <a:ext cx="1164600" cy="1113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0B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2141723" y="1992080"/>
            <a:ext cx="30885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Pagamento:</a:t>
            </a:r>
            <a:endParaRPr b="1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7393" y="2802162"/>
            <a:ext cx="455670" cy="71678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2242983" y="3460339"/>
            <a:ext cx="11646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Café: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R$ 3.00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3449412" y="3110243"/>
            <a:ext cx="3036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i="0" sz="4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3913772" y="2802162"/>
            <a:ext cx="1265700" cy="1113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0B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483300" y="2802162"/>
            <a:ext cx="1873200" cy="1113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0B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483300" y="4067916"/>
            <a:ext cx="1873200" cy="405000"/>
          </a:xfrm>
          <a:prstGeom prst="roundRect">
            <a:avLst>
              <a:gd fmla="val 16667" name="adj"/>
            </a:avLst>
          </a:prstGeom>
          <a:solidFill>
            <a:srgbClr val="E66C7D"/>
          </a:solidFill>
          <a:ln cap="flat" cmpd="sng" w="25400">
            <a:solidFill>
              <a:srgbClr val="A74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Pagar</a:t>
            </a:r>
            <a:endParaRPr sz="300"/>
          </a:p>
        </p:txBody>
      </p:sp>
      <p:sp>
        <p:nvSpPr>
          <p:cNvPr id="169" name="Google Shape;169;p20"/>
          <p:cNvSpPr/>
          <p:nvPr/>
        </p:nvSpPr>
        <p:spPr>
          <a:xfrm>
            <a:off x="4000675" y="2866200"/>
            <a:ext cx="585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7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774481" y="3460354"/>
            <a:ext cx="354300" cy="40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0AD00"/>
          </a:solidFill>
          <a:ln cap="flat" cmpd="sng" w="254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 rot="10800000">
            <a:off x="4774590" y="2903464"/>
            <a:ext cx="354300" cy="40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0AD00"/>
          </a:solidFill>
          <a:ln cap="flat" cmpd="sng" w="254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483300" y="3163233"/>
            <a:ext cx="18732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R$ 6,00</a:t>
            </a:r>
            <a:endParaRPr b="1" i="0" sz="3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1635424" y="1688299"/>
            <a:ext cx="810000" cy="346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66C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Tela 3</a:t>
            </a:r>
            <a:endParaRPr sz="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Exemplo - Protótipo Cardápio</a:t>
            </a:r>
            <a:endParaRPr sz="4100"/>
          </a:p>
        </p:txBody>
      </p:sp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" name="Google Shape;1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/>
          <p:nvPr/>
        </p:nvSpPr>
        <p:spPr>
          <a:xfrm>
            <a:off x="2068112" y="1837088"/>
            <a:ext cx="5408400" cy="26781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2168265" y="1985877"/>
            <a:ext cx="3054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Pagamento:</a:t>
            </a:r>
            <a:endParaRPr b="1" sz="3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2769183" y="3324971"/>
            <a:ext cx="1852800" cy="39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Débito</a:t>
            </a:r>
            <a:endParaRPr sz="300"/>
          </a:p>
        </p:txBody>
      </p:sp>
      <p:sp>
        <p:nvSpPr>
          <p:cNvPr id="184" name="Google Shape;184;p21"/>
          <p:cNvSpPr/>
          <p:nvPr/>
        </p:nvSpPr>
        <p:spPr>
          <a:xfrm>
            <a:off x="2168265" y="2475837"/>
            <a:ext cx="3455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Total a Pagar: R$ 6,00</a:t>
            </a:r>
            <a:endParaRPr b="1" sz="2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2168265" y="2829010"/>
            <a:ext cx="3455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Tipo de Pagamento:</a:t>
            </a:r>
            <a:endParaRPr b="1" sz="2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223177" y="3328950"/>
            <a:ext cx="1356600" cy="39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Crédito</a:t>
            </a:r>
            <a:endParaRPr sz="2500"/>
          </a:p>
        </p:txBody>
      </p:sp>
      <p:sp>
        <p:nvSpPr>
          <p:cNvPr id="187" name="Google Shape;187;p21"/>
          <p:cNvSpPr/>
          <p:nvPr/>
        </p:nvSpPr>
        <p:spPr>
          <a:xfrm>
            <a:off x="2468797" y="3423983"/>
            <a:ext cx="200400" cy="1986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4939847" y="3427959"/>
            <a:ext cx="200400" cy="1986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1667500" y="1688300"/>
            <a:ext cx="801300" cy="339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E66C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Tela 4</a:t>
            </a:r>
            <a:endParaRPr sz="500"/>
          </a:p>
        </p:txBody>
      </p:sp>
      <p:sp>
        <p:nvSpPr>
          <p:cNvPr id="190" name="Google Shape;190;p21"/>
          <p:cNvSpPr/>
          <p:nvPr/>
        </p:nvSpPr>
        <p:spPr>
          <a:xfrm>
            <a:off x="4971942" y="3456452"/>
            <a:ext cx="136200" cy="141600"/>
          </a:xfrm>
          <a:prstGeom prst="ellipse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Exemplo - Protótipo Cardápio</a:t>
            </a:r>
            <a:endParaRPr sz="4100"/>
          </a:p>
        </p:txBody>
      </p:sp>
      <p:sp>
        <p:nvSpPr>
          <p:cNvPr id="196" name="Google Shape;196;p2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/>
          <p:nvPr/>
        </p:nvSpPr>
        <p:spPr>
          <a:xfrm>
            <a:off x="1830152" y="1770249"/>
            <a:ext cx="5733600" cy="2866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2042502" y="2194949"/>
            <a:ext cx="53088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5A6378"/>
                </a:solidFill>
                <a:latin typeface="Arial"/>
                <a:ea typeface="Arial"/>
                <a:cs typeface="Arial"/>
                <a:sym typeface="Arial"/>
              </a:rPr>
              <a:t>E continua de acordo com as funcionalidades...</a:t>
            </a:r>
            <a:endParaRPr b="1" sz="42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Exemplo - Protótipo Cardápio</a:t>
            </a:r>
            <a:endParaRPr sz="4100"/>
          </a:p>
        </p:txBody>
      </p:sp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400"/>
              <a:buChar char="▸"/>
            </a:pPr>
            <a:r>
              <a:rPr lang="en" sz="2400"/>
              <a:t>Neste caso, como o objetivo é Validar o protótipo com o cliente, observa-se: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6" name="Google Shape;206;p2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23"/>
          <p:cNvGrpSpPr/>
          <p:nvPr/>
        </p:nvGrpSpPr>
        <p:grpSpPr>
          <a:xfrm>
            <a:off x="5370162" y="2731204"/>
            <a:ext cx="2377398" cy="1386957"/>
            <a:chOff x="827584" y="2276872"/>
            <a:chExt cx="7776900" cy="3888300"/>
          </a:xfrm>
        </p:grpSpPr>
        <p:sp>
          <p:nvSpPr>
            <p:cNvPr id="209" name="Google Shape;209;p23"/>
            <p:cNvSpPr/>
            <p:nvPr/>
          </p:nvSpPr>
          <p:spPr>
            <a:xfrm>
              <a:off x="827584" y="2276872"/>
              <a:ext cx="7776900" cy="388830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3203848" y="2617414"/>
              <a:ext cx="4644900" cy="9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Bem-Vindo ao nosso café!</a:t>
              </a:r>
              <a:endParaRPr b="1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http://2.bp.blogspot.com/-SFDSmFQKh-4/T7ahMckCtOI/AAAAAAAAAU0/QXfwAR_GkBA/s1600/CAFE+DO+PORTO_marca_Dia+do+Espresso+Feliz+2011.jpg" id="211" name="Google Shape;211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19672" y="2329383"/>
              <a:ext cx="1519168" cy="12436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3"/>
            <p:cNvSpPr/>
            <p:nvPr/>
          </p:nvSpPr>
          <p:spPr>
            <a:xfrm>
              <a:off x="1979712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3" name="Google Shape;213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05100" y="4149080"/>
              <a:ext cx="870756" cy="8913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23"/>
            <p:cNvSpPr/>
            <p:nvPr/>
          </p:nvSpPr>
          <p:spPr>
            <a:xfrm>
              <a:off x="1979710" y="5013178"/>
              <a:ext cx="1656300" cy="7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Bebidas Quentes</a:t>
              </a:r>
              <a:endParaRPr b="1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3923928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4067944" y="5013178"/>
              <a:ext cx="1368300" cy="7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Bebidas Frias</a:t>
              </a:r>
              <a:endParaRPr b="1" sz="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5868144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3"/>
            <p:cNvSpPr/>
            <p:nvPr/>
          </p:nvSpPr>
          <p:spPr>
            <a:xfrm>
              <a:off x="5868142" y="5157193"/>
              <a:ext cx="1656300" cy="4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Doces</a:t>
              </a:r>
              <a:endParaRPr b="1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3"/>
            <p:cNvSpPr/>
            <p:nvPr/>
          </p:nvSpPr>
          <p:spPr>
            <a:xfrm>
              <a:off x="971600" y="4509120"/>
              <a:ext cx="792000" cy="720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0AD00"/>
            </a:solidFill>
            <a:ln cap="flat" cmpd="sng" w="25400">
              <a:solidFill>
                <a:srgbClr val="AF7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3"/>
            <p:cNvSpPr/>
            <p:nvPr/>
          </p:nvSpPr>
          <p:spPr>
            <a:xfrm rot="10800000">
              <a:off x="7740440" y="4581207"/>
              <a:ext cx="792000" cy="720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0AD00"/>
            </a:solidFill>
            <a:ln cap="flat" cmpd="sng" w="25400">
              <a:solidFill>
                <a:srgbClr val="AF7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1" name="Google Shape;221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55976" y="4509120"/>
              <a:ext cx="871727" cy="5720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99992" y="4149080"/>
              <a:ext cx="432048" cy="4393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://www.labpixies.com/campaigns/calories/images/dessert_icon.gif" id="223" name="Google Shape;223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156176" y="4077072"/>
              <a:ext cx="1080120" cy="12878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4" name="Google Shape;224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96450" y="2833913"/>
            <a:ext cx="1537589" cy="227143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/>
          <p:nvPr/>
        </p:nvSpPr>
        <p:spPr>
          <a:xfrm flipH="1">
            <a:off x="2717454" y="2305550"/>
            <a:ext cx="2311500" cy="1453200"/>
          </a:xfrm>
          <a:prstGeom prst="flowChartMagneticTape">
            <a:avLst/>
          </a:prstGeom>
          <a:solidFill>
            <a:srgbClr val="F0AD00"/>
          </a:solidFill>
          <a:ln cap="flat" cmpd="sng" w="254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você acha?</a:t>
            </a:r>
            <a:endParaRPr sz="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Exemplo - Protótipo Cardápio</a:t>
            </a:r>
            <a:endParaRPr sz="4100"/>
          </a:p>
        </p:txBody>
      </p:sp>
      <p:sp>
        <p:nvSpPr>
          <p:cNvPr id="231" name="Google Shape;231;p24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400"/>
              <a:buChar char="▸"/>
            </a:pPr>
            <a:r>
              <a:rPr lang="en" sz="2400"/>
              <a:t>Neste caso, como o objetivo é Validar o protótipo com o cliente, observa-se: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32" name="Google Shape;232;p2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24"/>
          <p:cNvGrpSpPr/>
          <p:nvPr/>
        </p:nvGrpSpPr>
        <p:grpSpPr>
          <a:xfrm>
            <a:off x="1024126" y="2837130"/>
            <a:ext cx="2730470" cy="1593037"/>
            <a:chOff x="827584" y="2276872"/>
            <a:chExt cx="7776900" cy="3888300"/>
          </a:xfrm>
        </p:grpSpPr>
        <p:sp>
          <p:nvSpPr>
            <p:cNvPr id="235" name="Google Shape;235;p24"/>
            <p:cNvSpPr/>
            <p:nvPr/>
          </p:nvSpPr>
          <p:spPr>
            <a:xfrm>
              <a:off x="827584" y="2276872"/>
              <a:ext cx="7776900" cy="388830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4"/>
            <p:cNvSpPr/>
            <p:nvPr/>
          </p:nvSpPr>
          <p:spPr>
            <a:xfrm>
              <a:off x="3203848" y="2617414"/>
              <a:ext cx="4644900" cy="9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Bem-Vindo ao nosso café!</a:t>
              </a:r>
              <a:endParaRPr b="1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http://2.bp.blogspot.com/-SFDSmFQKh-4/T7ahMckCtOI/AAAAAAAAAU0/QXfwAR_GkBA/s1600/CAFE+DO+PORTO_marca_Dia+do+Espresso+Feliz+2011.jpg" id="237" name="Google Shape;237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19672" y="2329383"/>
              <a:ext cx="1519168" cy="12436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24"/>
            <p:cNvSpPr/>
            <p:nvPr/>
          </p:nvSpPr>
          <p:spPr>
            <a:xfrm>
              <a:off x="1979712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9" name="Google Shape;23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05100" y="4149080"/>
              <a:ext cx="870756" cy="8913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4"/>
            <p:cNvSpPr/>
            <p:nvPr/>
          </p:nvSpPr>
          <p:spPr>
            <a:xfrm>
              <a:off x="1979710" y="5013178"/>
              <a:ext cx="1656300" cy="7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Bebidas Quentes</a:t>
              </a:r>
              <a:endParaRPr b="1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3923928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4067944" y="5013178"/>
              <a:ext cx="1368300" cy="7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Bebidas Frias</a:t>
              </a:r>
              <a:endParaRPr b="1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4"/>
            <p:cNvSpPr/>
            <p:nvPr/>
          </p:nvSpPr>
          <p:spPr>
            <a:xfrm>
              <a:off x="5868144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4"/>
            <p:cNvSpPr/>
            <p:nvPr/>
          </p:nvSpPr>
          <p:spPr>
            <a:xfrm>
              <a:off x="5868142" y="5157193"/>
              <a:ext cx="1656300" cy="4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Doces</a:t>
              </a:r>
              <a:endParaRPr b="1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971600" y="4509120"/>
              <a:ext cx="792000" cy="720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0AD00"/>
            </a:solidFill>
            <a:ln cap="flat" cmpd="sng" w="25400">
              <a:solidFill>
                <a:srgbClr val="AF7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4"/>
            <p:cNvSpPr/>
            <p:nvPr/>
          </p:nvSpPr>
          <p:spPr>
            <a:xfrm rot="10800000">
              <a:off x="7740440" y="4581207"/>
              <a:ext cx="792000" cy="720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0AD00"/>
            </a:solidFill>
            <a:ln cap="flat" cmpd="sng" w="25400">
              <a:solidFill>
                <a:srgbClr val="AF7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7" name="Google Shape;247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55976" y="4509120"/>
              <a:ext cx="871727" cy="5720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99992" y="4149080"/>
              <a:ext cx="432048" cy="4393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://www.labpixies.com/campaigns/calories/images/dessert_icon.gif" id="249" name="Google Shape;249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156176" y="4077072"/>
              <a:ext cx="1080120" cy="12878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http://recebiporemail.com.br/wp-content/uploads/2009/04/velhinha.jpg" id="250" name="Google Shape;25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95185" y="3607811"/>
            <a:ext cx="1973565" cy="153568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/>
          <p:nvPr/>
        </p:nvSpPr>
        <p:spPr>
          <a:xfrm>
            <a:off x="4015153" y="3091997"/>
            <a:ext cx="1538700" cy="1072500"/>
          </a:xfrm>
          <a:prstGeom prst="flowChartMagneticTape">
            <a:avLst/>
          </a:prstGeom>
          <a:solidFill>
            <a:srgbClr val="F0AD00"/>
          </a:solidFill>
          <a:ln cap="flat" cmpd="sng" w="254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Eu </a:t>
            </a:r>
            <a:r>
              <a:rPr b="1" lang="en" sz="1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r>
              <a:rPr b="1" lang="en" sz="1700">
                <a:solidFill>
                  <a:srgbClr val="60B5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vendo doces!!!</a:t>
            </a:r>
            <a:endParaRPr sz="300"/>
          </a:p>
        </p:txBody>
      </p:sp>
      <p:sp>
        <p:nvSpPr>
          <p:cNvPr id="252" name="Google Shape;252;p24"/>
          <p:cNvSpPr/>
          <p:nvPr/>
        </p:nvSpPr>
        <p:spPr>
          <a:xfrm>
            <a:off x="5274023" y="1833122"/>
            <a:ext cx="1794600" cy="1538700"/>
          </a:xfrm>
          <a:prstGeom prst="cloudCallout">
            <a:avLst>
              <a:gd fmla="val -12205" name="adj1"/>
              <a:gd fmla="val 70196" name="adj2"/>
            </a:avLst>
          </a:prstGeom>
          <a:noFill/>
          <a:ln cap="flat" cmpd="sng" w="25400">
            <a:solidFill>
              <a:srgbClr val="AF7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p24"/>
          <p:cNvGrpSpPr/>
          <p:nvPr/>
        </p:nvGrpSpPr>
        <p:grpSpPr>
          <a:xfrm>
            <a:off x="5665656" y="2118797"/>
            <a:ext cx="1011337" cy="967374"/>
            <a:chOff x="6876256" y="1988840"/>
            <a:chExt cx="1656300" cy="1584300"/>
          </a:xfrm>
        </p:grpSpPr>
        <p:sp>
          <p:nvSpPr>
            <p:cNvPr id="254" name="Google Shape;254;p24"/>
            <p:cNvSpPr/>
            <p:nvPr/>
          </p:nvSpPr>
          <p:spPr>
            <a:xfrm>
              <a:off x="6876256" y="1988840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6876256" y="3068960"/>
              <a:ext cx="1656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Doces</a:t>
              </a:r>
              <a:endParaRPr b="1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http://www.labpixies.com/campaigns/calories/images/dessert_icon.gif" id="256" name="Google Shape;256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164288" y="1988840"/>
              <a:ext cx="1080120" cy="12878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7" name="Google Shape;257;p24"/>
          <p:cNvCxnSpPr/>
          <p:nvPr/>
        </p:nvCxnSpPr>
        <p:spPr>
          <a:xfrm>
            <a:off x="5513275" y="1932250"/>
            <a:ext cx="1431600" cy="1431600"/>
          </a:xfrm>
          <a:prstGeom prst="straightConnector1">
            <a:avLst/>
          </a:prstGeom>
          <a:noFill/>
          <a:ln cap="flat" cmpd="sng" w="76200">
            <a:solidFill>
              <a:srgbClr val="5AB1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4"/>
          <p:cNvCxnSpPr/>
          <p:nvPr/>
        </p:nvCxnSpPr>
        <p:spPr>
          <a:xfrm flipH="1">
            <a:off x="5600193" y="1833122"/>
            <a:ext cx="932700" cy="1538700"/>
          </a:xfrm>
          <a:prstGeom prst="straightConnector1">
            <a:avLst/>
          </a:prstGeom>
          <a:noFill/>
          <a:ln cap="flat" cmpd="sng" w="76200">
            <a:solidFill>
              <a:srgbClr val="5AB1C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Prototipação + Especificação</a:t>
            </a:r>
            <a:endParaRPr sz="4100"/>
          </a:p>
        </p:txBody>
      </p:sp>
      <p:sp>
        <p:nvSpPr>
          <p:cNvPr id="264" name="Google Shape;264;p25"/>
          <p:cNvSpPr txBox="1"/>
          <p:nvPr>
            <p:ph idx="1" type="body"/>
          </p:nvPr>
        </p:nvSpPr>
        <p:spPr>
          <a:xfrm>
            <a:off x="4568700" y="1292150"/>
            <a:ext cx="41502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Barlow"/>
              <a:buChar char="▸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Caso de Uso: Fazer Pedido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365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arlow"/>
              <a:buChar char="▹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O sistema apresenta a tela de tipos de produtos;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365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arlow"/>
              <a:buChar char="▹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O cliente seleciona o tipo de produto que deseja comprar;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365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arlow"/>
              <a:buChar char="▹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O sistema apresenta a lista de produtos daquele tipo.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-3365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arlow"/>
              <a:buChar char="▹"/>
            </a:pPr>
            <a:r>
              <a:rPr b="1" lang="en" sz="1700">
                <a:latin typeface="Barlow"/>
                <a:ea typeface="Barlow"/>
                <a:cs typeface="Barlow"/>
                <a:sym typeface="Barlow"/>
              </a:rPr>
              <a:t>...</a:t>
            </a:r>
            <a:endParaRPr b="1" sz="1700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65" name="Google Shape;265;p2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6" name="Google Shape;2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25"/>
          <p:cNvGrpSpPr/>
          <p:nvPr/>
        </p:nvGrpSpPr>
        <p:grpSpPr>
          <a:xfrm>
            <a:off x="457207" y="1389270"/>
            <a:ext cx="2592041" cy="1512160"/>
            <a:chOff x="827584" y="2276872"/>
            <a:chExt cx="7776900" cy="3888300"/>
          </a:xfrm>
        </p:grpSpPr>
        <p:sp>
          <p:nvSpPr>
            <p:cNvPr id="268" name="Google Shape;268;p25"/>
            <p:cNvSpPr/>
            <p:nvPr/>
          </p:nvSpPr>
          <p:spPr>
            <a:xfrm>
              <a:off x="827584" y="2276872"/>
              <a:ext cx="7776900" cy="388830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3203848" y="2617414"/>
              <a:ext cx="4644900" cy="9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Bem-Vindo ao nosso café!</a:t>
              </a:r>
              <a:endParaRPr b="1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http://2.bp.blogspot.com/-SFDSmFQKh-4/T7ahMckCtOI/AAAAAAAAAU0/QXfwAR_GkBA/s1600/CAFE+DO+PORTO_marca_Dia+do+Espresso+Feliz+2011.jpg" id="270" name="Google Shape;270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19672" y="2329383"/>
              <a:ext cx="1519168" cy="12436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5"/>
            <p:cNvSpPr/>
            <p:nvPr/>
          </p:nvSpPr>
          <p:spPr>
            <a:xfrm>
              <a:off x="1979712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2" name="Google Shape;272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05100" y="4149080"/>
              <a:ext cx="870756" cy="8913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25"/>
            <p:cNvSpPr/>
            <p:nvPr/>
          </p:nvSpPr>
          <p:spPr>
            <a:xfrm>
              <a:off x="1979710" y="5013178"/>
              <a:ext cx="1656300" cy="7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Bebidas Quentes</a:t>
              </a:r>
              <a:endParaRPr b="1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3923928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4067944" y="5081190"/>
              <a:ext cx="1581600" cy="66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Bebidas Frias</a:t>
              </a:r>
              <a:endParaRPr b="1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5868144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5868142" y="5157193"/>
              <a:ext cx="1656300" cy="4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Doces</a:t>
              </a:r>
              <a:endParaRPr b="1" sz="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971600" y="4509120"/>
              <a:ext cx="792000" cy="720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0AD00"/>
            </a:solidFill>
            <a:ln cap="flat" cmpd="sng" w="25400">
              <a:solidFill>
                <a:srgbClr val="AF7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 rot="10800000">
              <a:off x="7740440" y="4581207"/>
              <a:ext cx="792000" cy="720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0AD00"/>
            </a:solidFill>
            <a:ln cap="flat" cmpd="sng" w="25400">
              <a:solidFill>
                <a:srgbClr val="AF7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0" name="Google Shape;280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55976" y="4509120"/>
              <a:ext cx="871727" cy="5720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99992" y="4149080"/>
              <a:ext cx="432048" cy="4393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://www.labpixies.com/campaigns/calories/images/dessert_icon.gif" id="282" name="Google Shape;282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156176" y="4077072"/>
              <a:ext cx="1080120" cy="128783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3" name="Google Shape;283;p25"/>
          <p:cNvGrpSpPr/>
          <p:nvPr/>
        </p:nvGrpSpPr>
        <p:grpSpPr>
          <a:xfrm>
            <a:off x="1537395" y="3117420"/>
            <a:ext cx="2736691" cy="1584093"/>
            <a:chOff x="827584" y="2276872"/>
            <a:chExt cx="7776900" cy="3888300"/>
          </a:xfrm>
        </p:grpSpPr>
        <p:sp>
          <p:nvSpPr>
            <p:cNvPr id="284" name="Google Shape;284;p25"/>
            <p:cNvSpPr/>
            <p:nvPr/>
          </p:nvSpPr>
          <p:spPr>
            <a:xfrm>
              <a:off x="827584" y="2276872"/>
              <a:ext cx="7776900" cy="388830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1979712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6" name="Google Shape;286;p2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619672" y="2414072"/>
              <a:ext cx="1440160" cy="14742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5"/>
            <p:cNvSpPr/>
            <p:nvPr/>
          </p:nvSpPr>
          <p:spPr>
            <a:xfrm>
              <a:off x="3203847" y="2780929"/>
              <a:ext cx="4392600" cy="65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Bebidas Quentes</a:t>
              </a:r>
              <a:endParaRPr b="1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3923928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5868144" y="4077072"/>
              <a:ext cx="1656300" cy="15843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5400">
              <a:solidFill>
                <a:srgbClr val="60B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971600" y="4509120"/>
              <a:ext cx="792000" cy="720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0AD00"/>
            </a:solidFill>
            <a:ln cap="flat" cmpd="sng" w="25400">
              <a:solidFill>
                <a:srgbClr val="AF7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5"/>
            <p:cNvSpPr/>
            <p:nvPr/>
          </p:nvSpPr>
          <p:spPr>
            <a:xfrm rot="10800000">
              <a:off x="7740440" y="4581207"/>
              <a:ext cx="792000" cy="720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F0AD00"/>
            </a:solidFill>
            <a:ln cap="flat" cmpd="sng" w="25400">
              <a:solidFill>
                <a:srgbClr val="AF7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2" name="Google Shape;292;p2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483768" y="4077072"/>
              <a:ext cx="648072" cy="10194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25"/>
            <p:cNvSpPr/>
            <p:nvPr/>
          </p:nvSpPr>
          <p:spPr>
            <a:xfrm>
              <a:off x="1979713" y="5013176"/>
              <a:ext cx="1656300" cy="72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Café: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R$ 3.00</a:t>
              </a:r>
              <a:endParaRPr/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3923929" y="5013176"/>
              <a:ext cx="1656300" cy="72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Leite: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R$ 2.00</a:t>
              </a:r>
              <a:endParaRPr/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5868145" y="5013176"/>
              <a:ext cx="1656300" cy="72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5A6378"/>
                  </a:solidFill>
                  <a:latin typeface="Arial"/>
                  <a:ea typeface="Arial"/>
                  <a:cs typeface="Arial"/>
                  <a:sym typeface="Arial"/>
                </a:rPr>
                <a:t>Chá: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R$ 1.50</a:t>
              </a:r>
              <a:endParaRPr/>
            </a:p>
          </p:txBody>
        </p:sp>
        <p:pic>
          <p:nvPicPr>
            <p:cNvPr id="296" name="Google Shape;296;p2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372200" y="4077072"/>
              <a:ext cx="648352" cy="9829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27984" y="4077072"/>
              <a:ext cx="648072" cy="9755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8" name="Google Shape;298;p25"/>
          <p:cNvSpPr/>
          <p:nvPr/>
        </p:nvSpPr>
        <p:spPr>
          <a:xfrm flipH="1" rot="-5400000">
            <a:off x="605751" y="2104825"/>
            <a:ext cx="1763700" cy="1772700"/>
          </a:xfrm>
          <a:custGeom>
            <a:rect b="b" l="l" r="r" t="t"/>
            <a:pathLst>
              <a:path extrusionOk="0" h="120000" w="120000">
                <a:moveTo>
                  <a:pt x="61024" y="7472"/>
                </a:moveTo>
                <a:lnTo>
                  <a:pt x="61024" y="7472"/>
                </a:lnTo>
                <a:cubicBezTo>
                  <a:pt x="84011" y="7921"/>
                  <a:pt x="104032" y="23285"/>
                  <a:pt x="110428" y="45385"/>
                </a:cubicBezTo>
                <a:lnTo>
                  <a:pt x="117569" y="45385"/>
                </a:lnTo>
                <a:lnTo>
                  <a:pt x="105000" y="60000"/>
                </a:lnTo>
                <a:lnTo>
                  <a:pt x="87569" y="45385"/>
                </a:lnTo>
                <a:lnTo>
                  <a:pt x="94553" y="45385"/>
                </a:lnTo>
                <a:cubicBezTo>
                  <a:pt x="88797" y="31693"/>
                  <a:pt x="75544" y="22683"/>
                  <a:pt x="60733" y="22393"/>
                </a:cubicBezTo>
                <a:close/>
              </a:path>
            </a:pathLst>
          </a:custGeom>
          <a:solidFill>
            <a:srgbClr val="E66C7D"/>
          </a:solidFill>
          <a:ln cap="flat" cmpd="sng" w="25400">
            <a:solidFill>
              <a:srgbClr val="A74E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 txBox="1"/>
          <p:nvPr>
            <p:ph type="title"/>
          </p:nvPr>
        </p:nvSpPr>
        <p:spPr>
          <a:xfrm>
            <a:off x="457200" y="605600"/>
            <a:ext cx="84795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Ferramentas</a:t>
            </a:r>
            <a:endParaRPr sz="4100"/>
          </a:p>
        </p:txBody>
      </p:sp>
      <p:sp>
        <p:nvSpPr>
          <p:cNvPr id="304" name="Google Shape;304;p2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5" name="Google Shape;3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457200" y="1292150"/>
            <a:ext cx="8191800" cy="3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B5DD"/>
              </a:buClr>
              <a:buSzPts val="1100"/>
              <a:buFont typeface="Barlow"/>
              <a:buChar char="▸"/>
            </a:pPr>
            <a:r>
              <a:rPr b="1" lang="en" sz="1300">
                <a:solidFill>
                  <a:srgbClr val="3A3F50"/>
                </a:solidFill>
                <a:latin typeface="Barlow"/>
                <a:ea typeface="Barlow"/>
                <a:cs typeface="Barlow"/>
                <a:sym typeface="Barlow"/>
              </a:rPr>
              <a:t>Balsamiq </a:t>
            </a:r>
            <a:r>
              <a:rPr lang="en" sz="1300">
                <a:solidFill>
                  <a:srgbClr val="3A3F50"/>
                </a:solidFill>
                <a:latin typeface="Barlow Light"/>
                <a:ea typeface="Barlow Light"/>
                <a:cs typeface="Barlow Light"/>
                <a:sym typeface="Barlow Light"/>
              </a:rPr>
              <a:t>- </a:t>
            </a:r>
            <a:r>
              <a:rPr b="1" lang="en" sz="1300">
                <a:solidFill>
                  <a:srgbClr val="3A3F50"/>
                </a:solidFill>
                <a:latin typeface="Barlow"/>
                <a:ea typeface="Barlow"/>
                <a:cs typeface="Barlow"/>
                <a:sym typeface="Barlow"/>
              </a:rPr>
              <a:t>Wireframe</a:t>
            </a:r>
            <a:endParaRPr b="1" sz="1300">
              <a:solidFill>
                <a:srgbClr val="3A3F5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100"/>
              <a:buFont typeface="Barlow Light"/>
              <a:buChar char="▹"/>
            </a:pPr>
            <a:r>
              <a:rPr lang="en" sz="1300">
                <a:solidFill>
                  <a:srgbClr val="3A3F50"/>
                </a:solidFill>
                <a:latin typeface="Barlow Light"/>
                <a:ea typeface="Barlow Light"/>
                <a:cs typeface="Barlow Light"/>
                <a:sym typeface="Barlow Light"/>
              </a:rPr>
              <a:t>https://balsamiq.com/wireframes/</a:t>
            </a:r>
            <a:endParaRPr sz="1300">
              <a:solidFill>
                <a:srgbClr val="3A3F5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100"/>
              <a:buFont typeface="Barlow"/>
              <a:buChar char="▸"/>
            </a:pPr>
            <a:r>
              <a:rPr b="1" lang="en" sz="1300">
                <a:solidFill>
                  <a:srgbClr val="3A3F50"/>
                </a:solidFill>
                <a:latin typeface="Barlow"/>
                <a:ea typeface="Barlow"/>
                <a:cs typeface="Barlow"/>
                <a:sym typeface="Barlow"/>
              </a:rPr>
              <a:t>Invision</a:t>
            </a:r>
            <a:endParaRPr b="1" sz="1300">
              <a:solidFill>
                <a:srgbClr val="3A3F5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100"/>
              <a:buFont typeface="Barlow Light"/>
              <a:buChar char="▹"/>
            </a:pPr>
            <a:r>
              <a:rPr lang="en" sz="1300">
                <a:solidFill>
                  <a:srgbClr val="3A3F50"/>
                </a:solidFill>
                <a:latin typeface="Barlow Light"/>
                <a:ea typeface="Barlow Light"/>
                <a:cs typeface="Barlow Light"/>
                <a:sym typeface="Barlow Light"/>
              </a:rPr>
              <a:t>https://www.invisionapp.com/home</a:t>
            </a:r>
            <a:endParaRPr sz="1300">
              <a:solidFill>
                <a:srgbClr val="3A3F5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100"/>
              <a:buFont typeface="Barlow"/>
              <a:buChar char="▸"/>
            </a:pPr>
            <a:r>
              <a:rPr b="1" lang="en" sz="1300">
                <a:solidFill>
                  <a:srgbClr val="3A3F50"/>
                </a:solidFill>
                <a:latin typeface="Barlow"/>
                <a:ea typeface="Barlow"/>
                <a:cs typeface="Barlow"/>
                <a:sym typeface="Barlow"/>
              </a:rPr>
              <a:t>Adobe XD</a:t>
            </a:r>
            <a:endParaRPr b="1" sz="1300">
              <a:solidFill>
                <a:srgbClr val="3A3F5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100"/>
              <a:buFont typeface="Barlow Light"/>
              <a:buChar char="▹"/>
            </a:pPr>
            <a:r>
              <a:rPr lang="en" sz="1300">
                <a:solidFill>
                  <a:srgbClr val="3A3F50"/>
                </a:solidFill>
                <a:latin typeface="Barlow Light"/>
                <a:ea typeface="Barlow Light"/>
                <a:cs typeface="Barlow Light"/>
                <a:sym typeface="Barlow Light"/>
              </a:rPr>
              <a:t>https://www.adobe.com/br/products/xd.html</a:t>
            </a:r>
            <a:endParaRPr sz="1300">
              <a:solidFill>
                <a:srgbClr val="3A3F5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100"/>
              <a:buFont typeface="Barlow"/>
              <a:buChar char="▸"/>
            </a:pPr>
            <a:r>
              <a:rPr b="1" lang="en" sz="1300">
                <a:solidFill>
                  <a:srgbClr val="3A3F50"/>
                </a:solidFill>
                <a:latin typeface="Barlow"/>
                <a:ea typeface="Barlow"/>
                <a:cs typeface="Barlow"/>
                <a:sym typeface="Barlow"/>
              </a:rPr>
              <a:t>Marvel</a:t>
            </a:r>
            <a:endParaRPr b="1" sz="1300">
              <a:solidFill>
                <a:srgbClr val="3A3F5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100"/>
              <a:buFont typeface="Barlow Light"/>
              <a:buChar char="▹"/>
            </a:pPr>
            <a:r>
              <a:rPr lang="en" sz="1300" u="sng">
                <a:solidFill>
                  <a:srgbClr val="007BB9"/>
                </a:solidFill>
                <a:latin typeface="Barlow Light"/>
                <a:ea typeface="Barlow Light"/>
                <a:cs typeface="Barlow Light"/>
                <a:sym typeface="Barlow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https://marvelapp.com/</a:t>
            </a:r>
            <a:endParaRPr sz="1300">
              <a:solidFill>
                <a:srgbClr val="3A3F5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100"/>
              <a:buFont typeface="Barlow"/>
              <a:buChar char="▸"/>
            </a:pPr>
            <a:r>
              <a:rPr b="1" lang="en" sz="1300">
                <a:solidFill>
                  <a:srgbClr val="3A3F50"/>
                </a:solidFill>
                <a:latin typeface="Barlow"/>
                <a:ea typeface="Barlow"/>
                <a:cs typeface="Barlow"/>
                <a:sym typeface="Barlow"/>
              </a:rPr>
              <a:t>JustInMind</a:t>
            </a:r>
            <a:endParaRPr b="1" sz="1300">
              <a:solidFill>
                <a:srgbClr val="3A3F5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100"/>
              <a:buFont typeface="Barlow Light"/>
              <a:buChar char="▹"/>
            </a:pPr>
            <a:r>
              <a:rPr lang="en" sz="1300" u="sng">
                <a:solidFill>
                  <a:srgbClr val="007BB9"/>
                </a:solidFill>
                <a:latin typeface="Barlow Light"/>
                <a:ea typeface="Barlow Light"/>
                <a:cs typeface="Barlow Light"/>
                <a:sym typeface="Barlow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https://www.justinmind.com/</a:t>
            </a:r>
            <a:endParaRPr sz="1300">
              <a:solidFill>
                <a:srgbClr val="3A3F5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11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300"/>
              <a:buFont typeface="Barlow"/>
              <a:buChar char="▸"/>
            </a:pPr>
            <a:r>
              <a:rPr b="1" lang="en" sz="1300">
                <a:solidFill>
                  <a:srgbClr val="3A3F50"/>
                </a:solidFill>
                <a:latin typeface="Barlow"/>
                <a:ea typeface="Barlow"/>
                <a:cs typeface="Barlow"/>
                <a:sym typeface="Barlow"/>
              </a:rPr>
              <a:t>Origami</a:t>
            </a:r>
            <a:endParaRPr b="1" sz="1300">
              <a:solidFill>
                <a:srgbClr val="3A3F5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11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300"/>
              <a:buFont typeface="Barlow Light"/>
              <a:buChar char="▹"/>
            </a:pPr>
            <a:r>
              <a:rPr lang="en" sz="1300" u="sng">
                <a:solidFill>
                  <a:srgbClr val="007BB9"/>
                </a:solidFill>
                <a:latin typeface="Barlow Light"/>
                <a:ea typeface="Barlow Light"/>
                <a:cs typeface="Barlow Light"/>
                <a:sym typeface="Barlow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https://origami.design/</a:t>
            </a:r>
            <a:endParaRPr sz="1300">
              <a:solidFill>
                <a:srgbClr val="3A3F5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11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5DD"/>
              </a:buClr>
              <a:buSzPts val="1300"/>
              <a:buFont typeface="Barlow"/>
              <a:buChar char="▸"/>
            </a:pPr>
            <a:r>
              <a:rPr b="1" lang="en" sz="1300">
                <a:solidFill>
                  <a:srgbClr val="3A3F50"/>
                </a:solidFill>
                <a:latin typeface="Barlow"/>
                <a:ea typeface="Barlow"/>
                <a:cs typeface="Barlow"/>
                <a:sym typeface="Barlow"/>
              </a:rPr>
              <a:t>Photoshop, Figma...</a:t>
            </a:r>
            <a:endParaRPr b="1" sz="1300">
              <a:solidFill>
                <a:srgbClr val="3A3F5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A3F5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 txBox="1"/>
          <p:nvPr>
            <p:ph type="title"/>
          </p:nvPr>
        </p:nvSpPr>
        <p:spPr>
          <a:xfrm>
            <a:off x="457200" y="605600"/>
            <a:ext cx="71958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Dúvidas?</a:t>
            </a:r>
            <a:endParaRPr/>
          </a:p>
        </p:txBody>
      </p:sp>
      <p:sp>
        <p:nvSpPr>
          <p:cNvPr id="312" name="Google Shape;312;p2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3" name="Google Shape;3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844967" y="1688300"/>
            <a:ext cx="1454075" cy="34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 txBox="1"/>
          <p:nvPr>
            <p:ph type="title"/>
          </p:nvPr>
        </p:nvSpPr>
        <p:spPr>
          <a:xfrm>
            <a:off x="457200" y="605600"/>
            <a:ext cx="71958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320" name="Google Shape;320;p28"/>
          <p:cNvSpPr txBox="1"/>
          <p:nvPr>
            <p:ph idx="1" type="body"/>
          </p:nvPr>
        </p:nvSpPr>
        <p:spPr>
          <a:xfrm>
            <a:off x="457200" y="1292150"/>
            <a:ext cx="81918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SOMMERVILLE, I. Engenharia de Software. 9 ed. São Paulo: Pearson Addison Wesley, 2011.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PRESSMAN, R. S., Engenharia de Software: Uma abordagem profissional. 7 ed. McGraw-Hill, 2011.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1" name="Google Shape;321;p2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2" name="Google Shape;3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