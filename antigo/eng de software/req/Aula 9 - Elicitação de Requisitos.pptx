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Raleway SemiBold"/>
      <p:regular r:id="rId23"/>
      <p:bold r:id="rId24"/>
      <p:italic r:id="rId25"/>
      <p:boldItalic r:id="rId26"/>
    </p:embeddedFont>
    <p:embeddedFont>
      <p:font typeface="Raleway"/>
      <p:regular r:id="rId27"/>
      <p:bold r:id="rId28"/>
      <p:italic r:id="rId29"/>
      <p:boldItalic r:id="rId30"/>
    </p:embeddedFont>
    <p:embeddedFont>
      <p:font typeface="Barlow Light"/>
      <p:regular r:id="rId31"/>
      <p:bold r:id="rId32"/>
      <p:italic r:id="rId33"/>
      <p:boldItalic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alewaySemiBold-bold.fntdata"/><Relationship Id="rId23" Type="http://schemas.openxmlformats.org/officeDocument/2006/relationships/font" Target="fonts/Raleway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SemiBold-boldItalic.fntdata"/><Relationship Id="rId25" Type="http://schemas.openxmlformats.org/officeDocument/2006/relationships/font" Target="fonts/RalewaySemiBold-italic.fnt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Light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33" Type="http://schemas.openxmlformats.org/officeDocument/2006/relationships/font" Target="fonts/BarlowLight-italic.fntdata"/><Relationship Id="rId10" Type="http://schemas.openxmlformats.org/officeDocument/2006/relationships/slide" Target="slides/slide6.xml"/><Relationship Id="rId32" Type="http://schemas.openxmlformats.org/officeDocument/2006/relationships/font" Target="fonts/BarlowLight-bold.fntdata"/><Relationship Id="rId13" Type="http://schemas.openxmlformats.org/officeDocument/2006/relationships/slide" Target="slides/slide9.xml"/><Relationship Id="rId35" Type="http://schemas.openxmlformats.org/officeDocument/2006/relationships/font" Target="fonts/Barlow-regular.fntdata"/><Relationship Id="rId12" Type="http://schemas.openxmlformats.org/officeDocument/2006/relationships/slide" Target="slides/slide8.xml"/><Relationship Id="rId34" Type="http://schemas.openxmlformats.org/officeDocument/2006/relationships/font" Target="fonts/Barlow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Barlow-italic.fntdata"/><Relationship Id="rId14" Type="http://schemas.openxmlformats.org/officeDocument/2006/relationships/slide" Target="slides/slide10.xml"/><Relationship Id="rId36" Type="http://schemas.openxmlformats.org/officeDocument/2006/relationships/font" Target="fonts/Barlow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612b1ee2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612b1ee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d4901bdf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d4901b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612b1ee2f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612b1ee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612b1ee2f_0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612b1ee2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612b1ee2f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612b1ee2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612b1ee2f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612b1ee2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612b1ee2f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612b1ee2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612b1ee2f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612b1ee2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612b1ee2f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f612b1ee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612b1ee2f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612b1ee2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612b1ee2f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612b1ee2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612b1ee2f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612b1ee2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f612b1ee2f_0_8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f612b1ee2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f612b1ee2f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f612b1ee2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f612b1ee2f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f612b1ee2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e9aba3672d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e9aba3672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9aba3672d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9aba3672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ctrTitle"/>
          </p:nvPr>
        </p:nvSpPr>
        <p:spPr>
          <a:xfrm>
            <a:off x="1076325" y="1863600"/>
            <a:ext cx="66723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de Software e Engenharia de Requisitos</a:t>
            </a:r>
            <a:endParaRPr/>
          </a:p>
        </p:txBody>
      </p:sp>
      <p:sp>
        <p:nvSpPr>
          <p:cNvPr id="64" name="Google Shape;64;p12"/>
          <p:cNvSpPr txBox="1"/>
          <p:nvPr>
            <p:ph type="ctrTitle"/>
          </p:nvPr>
        </p:nvSpPr>
        <p:spPr>
          <a:xfrm>
            <a:off x="1076325" y="3642500"/>
            <a:ext cx="63057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Aula 9 - Elicitação de Requisitos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Engenharia de requisitos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 que são requisitos;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Importância dos requisitos;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Classificação: requisitos funcionais e não-funcionais.</a:t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de hoje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Elicitação de Requisitos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Problemas na elicitação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Técnicas de elicitação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Trata-se da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identificação dos requisitos </a:t>
            </a:r>
            <a:r>
              <a:rPr lang="en"/>
              <a:t>em si;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Também denominada de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levantamento </a:t>
            </a:r>
            <a:r>
              <a:rPr lang="en"/>
              <a:t>ou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descoberta </a:t>
            </a:r>
            <a:r>
              <a:rPr lang="en"/>
              <a:t>de requisitos;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Deve envolver usuários finais, gerentes, pessoal envolvido na manutenção, especialistas no domínio</a:t>
            </a:r>
            <a:r>
              <a:rPr lang="en"/>
              <a:t>...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Objetiva descobrir 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d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omínio de aplicação</a:t>
            </a:r>
            <a:r>
              <a:rPr lang="en"/>
              <a:t>,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serviços </a:t>
            </a:r>
            <a:r>
              <a:rPr lang="en"/>
              <a:t>que devem ser fornecidos bem como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restrições</a:t>
            </a:r>
            <a:r>
              <a:rPr lang="en"/>
              <a:t>.</a:t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Atividades do processo de elicitação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Compreensão do domínio;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Coleta de requisitos através da interação com os stakeholders;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Classificação dos requisitos em grupos estruturados;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Resolução de conflitos advindos das diferentes visões dos stakeholders;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Definição de prioridades;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Verificação de requisitos (completos e consistentes).</a:t>
            </a:r>
            <a:endParaRPr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Principais problemas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Falta de conhecimento do usuário e das suas reais necessidades 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Usuário com vaga noção do que precisa e do que um produto de software pode oferecer;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Falta de conhecimento do profissional do domínio do problema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Profissional sem conhecimento adequado do domínio, o que leva a decisões erradas;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Domínio do processo de elicitação de requisitos pelos profissionais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Profissional</a:t>
            </a:r>
            <a:r>
              <a:rPr lang="en"/>
              <a:t> </a:t>
            </a:r>
            <a:r>
              <a:rPr lang="en"/>
              <a:t>não ouve o que os usuários têm a dizer e força suas próprias visões e interpretações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Principais problemas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Comunicação inadequada entre os profissionais e usuários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Usuários incapazes de expressar suas necessidades apropriadamente;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Significados diferentes a termos comuns.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Dificuldade do usuário tomar decisões 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Falta de entendimento sobre as consequências das decisões ou das alternativas possíveis;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elicitação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Procedimentos genéricos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Perguntar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Observar e inferir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Discutir e formular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Negociar a partir de um conjunto-padrão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Estudar e identificar problemas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Supor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4">
            <a:alphaModFix/>
          </a:blip>
          <a:srcRect b="25406" l="0" r="0" t="0"/>
          <a:stretch/>
        </p:blipFill>
        <p:spPr>
          <a:xfrm>
            <a:off x="6650475" y="3140925"/>
            <a:ext cx="2493525" cy="20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elicitação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Principais técnicas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Entrevistas;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Questionário;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Análise de protocolo;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Brainstorming</a:t>
            </a:r>
            <a:endParaRPr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 b="25406" l="0" r="0" t="0"/>
          <a:stretch/>
        </p:blipFill>
        <p:spPr>
          <a:xfrm>
            <a:off x="6650475" y="3140925"/>
            <a:ext cx="2493525" cy="20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Entrevistas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"/>
              <a:t>O engenheiro de requisitos ou analista  discute o sistema com diferentes  </a:t>
            </a:r>
            <a:r>
              <a:rPr i="1" lang="en"/>
              <a:t>stakeholders </a:t>
            </a:r>
            <a:r>
              <a:rPr lang="en"/>
              <a:t>e obtêm um entendimento dos requisitos.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Vantagens</a:t>
            </a:r>
            <a:r>
              <a:rPr lang="en"/>
              <a:t>: contato direto com o usuário e validação imediata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Desvantagens</a:t>
            </a:r>
            <a:r>
              <a:rPr lang="en"/>
              <a:t>: conhecimento tácito e diferenças de cultura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7563" y="3242187"/>
            <a:ext cx="2028875" cy="161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Entrevistas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Entrevistas fechadas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O engenheiro  de requisitos busca respostas para um conjunto de questões pré-definidas;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Entrevistas abertas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Não há uma agenda pré-definida e o engenheiro de requisitos discute, de forma aberta, o que o stakeholders querem do sistema.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Tutorial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O cliente expõe os requisitos em forma de apresentação; 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128" y="3788471"/>
            <a:ext cx="1575050" cy="1253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Entrevistas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Essencial das entrevistas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Entrevistadores devem estar de “</a:t>
            </a:r>
            <a:r>
              <a:rPr i="1" lang="en"/>
              <a:t>cabeça aberta</a:t>
            </a:r>
            <a:r>
              <a:rPr lang="en"/>
              <a:t>” e não fazer a entrevista com noções pré-concebidas sobre o que é necessário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Informar aos </a:t>
            </a:r>
            <a:r>
              <a:rPr i="1" lang="en"/>
              <a:t>stakeholders </a:t>
            </a:r>
            <a:r>
              <a:rPr lang="en"/>
              <a:t>o ponto inicial da discussão. Isto pode ser uma questão, uma proposta de requisitos ou um sistema existente;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128" y="3788471"/>
            <a:ext cx="1575050" cy="1253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Questionários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Quando existe conhecimento sobre o problema e grande número de clientes;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Dão ideia definida sobre como certos aspectos do universo de informação/software são percebidos;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Possibilitam análises estatísticas 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Vantagens: </a:t>
            </a:r>
            <a:r>
              <a:rPr lang="en"/>
              <a:t>padronização das perguntas e tratamento estatístico das respostas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Desvantagens:</a:t>
            </a:r>
            <a:r>
              <a:rPr lang="en"/>
              <a:t> limitação do universo de respostas e pouca interação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549" y="3751275"/>
            <a:ext cx="908625" cy="1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de protocolo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Consiste em analisar o trabalho de determinada pessoa através de verbalização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Objetivo: estabelecer a racionalidade utilizada na execução de tarefas 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Vantagens</a:t>
            </a:r>
            <a:r>
              <a:rPr lang="en"/>
              <a:t>: possibilidade de elicitar fatos não facilmente observáveis e permitir melhor entendimento dos fatos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Desvantagens</a:t>
            </a:r>
            <a:r>
              <a:rPr lang="en"/>
              <a:t>: desempenho do entrevistado e “o que se diz é diferente do que se faz”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550" y="3733729"/>
            <a:ext cx="1868300" cy="1145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Brainstorming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Técnica de criatividade que se dedica a combinar ideias, estender ideias pouco convencionais, com foco na quantidade;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Objetivo: geração e grande volume de ideias;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Grupo de 4 a 12 pessoas, sendo 6 o número ideal.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Uma ou duas pessoas podem anotar as ideias.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Brainstorming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Vantagens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Permite que todas as pessoas que são participantes do brainstorming possam expor suas ideias e opiniões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Grande volume de ideias e opiniões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Desvantagens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 planejamento de um brainstorming deve ser muito bem estruturado.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Dúvidas?</a:t>
            </a:r>
            <a:endParaRPr/>
          </a:p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44967" y="1688300"/>
            <a:ext cx="1454075" cy="34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457200" y="1292150"/>
            <a:ext cx="81918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SOMMERVILLE, I. Engenharia de Software. 9 ed. São Paulo: Pearson Addison Wesley, 2011.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PRESSMAN, R. S., Engenharia de Software: Uma abordagem profissional. 7 ed. McGraw-Hill, 2011.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