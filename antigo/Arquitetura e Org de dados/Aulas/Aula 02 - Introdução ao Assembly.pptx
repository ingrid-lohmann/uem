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2"/>
  </p:notesMasterIdLst>
  <p:sldIdLst>
    <p:sldId id="256" r:id="rId2"/>
    <p:sldId id="407" r:id="rId3"/>
    <p:sldId id="408" r:id="rId4"/>
    <p:sldId id="409" r:id="rId5"/>
    <p:sldId id="410" r:id="rId6"/>
    <p:sldId id="411" r:id="rId7"/>
    <p:sldId id="412" r:id="rId8"/>
    <p:sldId id="413" r:id="rId9"/>
    <p:sldId id="414" r:id="rId10"/>
    <p:sldId id="415" r:id="rId11"/>
    <p:sldId id="416" r:id="rId12"/>
    <p:sldId id="417" r:id="rId13"/>
    <p:sldId id="418" r:id="rId14"/>
    <p:sldId id="419" r:id="rId15"/>
    <p:sldId id="420" r:id="rId16"/>
    <p:sldId id="421" r:id="rId17"/>
    <p:sldId id="422" r:id="rId18"/>
    <p:sldId id="423" r:id="rId19"/>
    <p:sldId id="424" r:id="rId20"/>
    <p:sldId id="425" r:id="rId21"/>
    <p:sldId id="426" r:id="rId22"/>
    <p:sldId id="427" r:id="rId23"/>
    <p:sldId id="428" r:id="rId24"/>
    <p:sldId id="429" r:id="rId25"/>
    <p:sldId id="430" r:id="rId26"/>
    <p:sldId id="431" r:id="rId27"/>
    <p:sldId id="432" r:id="rId28"/>
    <p:sldId id="433" r:id="rId29"/>
    <p:sldId id="434" r:id="rId30"/>
    <p:sldId id="435" r:id="rId31"/>
    <p:sldId id="436" r:id="rId32"/>
    <p:sldId id="437" r:id="rId33"/>
    <p:sldId id="438" r:id="rId34"/>
    <p:sldId id="439" r:id="rId35"/>
    <p:sldId id="440" r:id="rId36"/>
    <p:sldId id="441" r:id="rId37"/>
    <p:sldId id="442" r:id="rId38"/>
    <p:sldId id="443" r:id="rId39"/>
    <p:sldId id="444" r:id="rId40"/>
    <p:sldId id="357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sson Renan Svaigen" initials="ARS" lastIdx="1" clrIdx="0">
    <p:extLst>
      <p:ext uri="{19B8F6BF-5375-455C-9EA6-DF929625EA0E}">
        <p15:presenceInfo xmlns:p15="http://schemas.microsoft.com/office/powerpoint/2012/main" userId="87d620b7ea14512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4F4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7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11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FCDB7B-D632-485B-9A2A-E0A169BDD1C9}" type="datetimeFigureOut">
              <a:rPr lang="pt-BR" smtClean="0"/>
              <a:t>11/08/2021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7FF906-620E-4E4D-AD83-85F9956C52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744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FF906-620E-4E4D-AD83-85F9956C52AF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360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FF906-620E-4E4D-AD83-85F9956C52AF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4921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FF906-620E-4E4D-AD83-85F9956C52AF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6699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FF906-620E-4E4D-AD83-85F9956C52AF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1793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FF906-620E-4E4D-AD83-85F9956C52AF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034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FF906-620E-4E4D-AD83-85F9956C52AF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7947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FF906-620E-4E4D-AD83-85F9956C52AF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7294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FF906-620E-4E4D-AD83-85F9956C52AF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455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FF906-620E-4E4D-AD83-85F9956C52AF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3479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FF906-620E-4E4D-AD83-85F9956C52AF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0301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FF906-620E-4E4D-AD83-85F9956C52AF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8510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FF906-620E-4E4D-AD83-85F9956C52AF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43392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FF906-620E-4E4D-AD83-85F9956C52AF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0018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442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334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03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389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004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5539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062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09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63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871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8363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414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09006" y="1168400"/>
            <a:ext cx="11696700" cy="500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0" y="6486525"/>
            <a:ext cx="11696700" cy="36512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none"/>
        </p:style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pt-BR"/>
              <a:t>MannaHap: um modelo de sistema háptico assistivo de representação de imagens para deficientes visuais | Álisson Renan Svaigen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1696700" y="6486525"/>
            <a:ext cx="495300" cy="36512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none"/>
        </p:style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BDB6521-5767-44C1-B935-036EFCA3B4E2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666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906508"/>
            <a:ext cx="12191999" cy="1759993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r>
              <a:rPr lang="pt-BR" sz="4600" b="1" dirty="0" smtClean="0"/>
              <a:t>Introdução ao Assembly</a:t>
            </a:r>
            <a:endParaRPr lang="pt-BR" sz="46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375094" y="4112734"/>
            <a:ext cx="7441808" cy="1879763"/>
          </a:xfrm>
        </p:spPr>
        <p:txBody>
          <a:bodyPr>
            <a:normAutofit/>
          </a:bodyPr>
          <a:lstStyle/>
          <a:p>
            <a:r>
              <a:rPr lang="pt-BR" b="1" dirty="0" smtClean="0"/>
              <a:t>Professor Felippe Fernandes da Silva</a:t>
            </a:r>
            <a:endParaRPr lang="pt-BR" b="1" dirty="0"/>
          </a:p>
          <a:p>
            <a:r>
              <a:rPr lang="pt-BR" dirty="0" smtClean="0"/>
              <a:t>ffsilva2@uem.br</a:t>
            </a:r>
            <a:endParaRPr lang="pt-BR" dirty="0"/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xmlns="" id="{1A540BBE-3281-43C6-8695-E79F42A38A82}"/>
              </a:ext>
            </a:extLst>
          </p:cNvPr>
          <p:cNvSpPr txBox="1">
            <a:spLocks/>
          </p:cNvSpPr>
          <p:nvPr/>
        </p:nvSpPr>
        <p:spPr>
          <a:xfrm>
            <a:off x="2715220" y="28135"/>
            <a:ext cx="6761557" cy="1759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000" b="1" dirty="0" smtClean="0"/>
          </a:p>
          <a:p>
            <a:r>
              <a:rPr lang="pt-BR" sz="2000" b="1" dirty="0" smtClean="0"/>
              <a:t>UEM</a:t>
            </a:r>
            <a:endParaRPr lang="pt-BR" sz="2000" b="1" dirty="0"/>
          </a:p>
          <a:p>
            <a:r>
              <a:rPr lang="pt-BR" sz="2000" b="1" dirty="0" smtClean="0"/>
              <a:t>ARQUITETURA E ORGANIZAÇÃO DE COMPUTADORES</a:t>
            </a:r>
            <a:endParaRPr lang="pt-BR" sz="2000" b="1" dirty="0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532" y="5478355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65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Introdução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 Assembly é uma linguagem de baixo nível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Ela é chamada frequentemente de “linguagem de montagem”</a:t>
            </a:r>
          </a:p>
          <a:p>
            <a:endParaRPr lang="pt-BR" dirty="0"/>
          </a:p>
          <a:p>
            <a:r>
              <a:rPr lang="pt-BR" dirty="0" smtClean="0"/>
              <a:t>É considerada muito difícil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O programador precisa conhecer a estrutura da máquina para usá-la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283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Introdução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É atrelada à arquitetura de uma certa CPU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Dentro dela, cada família de processador tem seu próprio Assembly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Exemplo:</a:t>
            </a:r>
          </a:p>
          <a:p>
            <a:pPr lvl="2"/>
            <a:r>
              <a:rPr lang="pt-BR" dirty="0" smtClean="0">
                <a:solidFill>
                  <a:srgbClr val="00B0F0"/>
                </a:solidFill>
              </a:rPr>
              <a:t>X86, ARM, SPARC, MIPS.</a:t>
            </a:r>
          </a:p>
          <a:p>
            <a:pPr lvl="2"/>
            <a:endParaRPr lang="pt-BR" dirty="0">
              <a:solidFill>
                <a:srgbClr val="00B0F0"/>
              </a:solidFill>
            </a:endParaRPr>
          </a:p>
          <a:p>
            <a:r>
              <a:rPr lang="pt-BR" dirty="0" smtClean="0"/>
              <a:t>Não é uma linguagem portável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Ao contrário da maioria das linguagens de alto nível (</a:t>
            </a:r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Ex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: JAVA)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5213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Histórico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As primeiras linguagens Assembly surgiram na década de 50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Segunda geração das linguagens de programação</a:t>
            </a:r>
          </a:p>
          <a:p>
            <a:pPr lvl="1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dirty="0" smtClean="0"/>
              <a:t>A segunda geração visou libertar os programadores de dificuldades, como: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Lembrar códigos numéricos; e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Calcular endereços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4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9333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Histórico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Assembly foi muito usada para várias aplicações até os anos 80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Foi substituída pelas linguagens de alto nível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Necessidade de aumento da produtividade de software</a:t>
            </a:r>
          </a:p>
          <a:p>
            <a:pPr lvl="1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dirty="0" smtClean="0"/>
              <a:t>Mas então... Ela não é mais utilizada?</a:t>
            </a:r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5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804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Histórico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Ela é sim!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Atualmente, é utilizada em sistemas que necessitem de uma performance crítica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Como por exemplo sistemas de tempo real</a:t>
            </a:r>
          </a:p>
          <a:p>
            <a:pPr lvl="1"/>
            <a:r>
              <a:rPr lang="pt-BR" i="1" dirty="0" err="1" smtClean="0">
                <a:solidFill>
                  <a:schemeClr val="accent1">
                    <a:lumMod val="75000"/>
                  </a:schemeClr>
                </a:solidFill>
              </a:rPr>
              <a:t>Device</a:t>
            </a:r>
            <a:r>
              <a:rPr lang="pt-BR" i="1" dirty="0" smtClean="0">
                <a:solidFill>
                  <a:schemeClr val="accent1">
                    <a:lumMod val="75000"/>
                  </a:schemeClr>
                </a:solidFill>
              </a:rPr>
              <a:t> drivers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; e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Sistemas embarcados de baixo nível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6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4872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Assembler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Apesar de Assembly ser de baixo nível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Deve ser transformado em algo que a máquina entenda</a:t>
            </a:r>
          </a:p>
          <a:p>
            <a:pPr lvl="1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dirty="0" smtClean="0"/>
              <a:t>Quem faz isso? O Assembler!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O Assembler é um utilitário que traduz o código Assembly para a máquina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7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758" y="4482979"/>
            <a:ext cx="3893183" cy="103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494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Fundamentos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 processador trabalha com tamanhos de dados “adequados” para executar as instruções</a:t>
            </a:r>
          </a:p>
          <a:p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dirty="0" smtClean="0"/>
              <a:t>Byte, Word e </a:t>
            </a:r>
            <a:r>
              <a:rPr lang="pt-BR" dirty="0" err="1" smtClean="0"/>
              <a:t>Dword</a:t>
            </a:r>
            <a:r>
              <a:rPr lang="pt-BR" dirty="0" smtClean="0"/>
              <a:t> são blocos de dados básicos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Byte possui 8 bits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Word possui 16 bits</a:t>
            </a:r>
          </a:p>
          <a:p>
            <a:pPr lvl="1"/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Dword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 possui 32 bits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8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7326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Fundamentos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Em Assembly é comum representar os números na forma hexadecimal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 representação hexadecimal facilita o tratamento de números muito grandes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Um algarismo hexadecimal pode ser representado por quatro algarismos binários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9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838" y="3309521"/>
            <a:ext cx="7601023" cy="250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85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Registradores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São áreas especiais dentro do processador que podem armazenar dados para a realização de operações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Seu acesso pelo processador é praticamente instantâneo</a:t>
            </a:r>
          </a:p>
          <a:p>
            <a:pPr lvl="1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dirty="0" smtClean="0"/>
              <a:t>Nos processadores da Intel existem 8 registradores de uso geral: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EAX, EBX, ECX, EDX, ESI, EDI, ESP e EBP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Os registradores ESP e EBP devem ser usados preferencialmente para quem trabalha com pilha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10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9536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Registradores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Nos registradores de uso geral (exceto ESI e EDI) é permitido usar três modos de acesso diferentes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11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48619" y="2708155"/>
            <a:ext cx="8894762" cy="280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734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Registradores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EAX: “Acumulador”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Operações aritméticas e para guardar resultados</a:t>
            </a:r>
          </a:p>
          <a:p>
            <a:pPr lvl="1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dirty="0" smtClean="0"/>
              <a:t>EBX: “Base”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Armazenar dados em geral</a:t>
            </a:r>
          </a:p>
          <a:p>
            <a:pPr lvl="1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dirty="0" smtClean="0"/>
              <a:t>ECX: “Contador”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Usado como contador principal em </a:t>
            </a:r>
            <a:r>
              <a:rPr lang="pt-BR" i="1" dirty="0" smtClean="0">
                <a:solidFill>
                  <a:schemeClr val="accent1">
                    <a:lumMod val="75000"/>
                  </a:schemeClr>
                </a:solidFill>
              </a:rPr>
              <a:t>loops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dirty="0" smtClean="0"/>
              <a:t>EDX: “Dados”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Guardar o endereço de uma variável que está na memória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89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Registradores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ESI e EDI: “</a:t>
            </a:r>
            <a:r>
              <a:rPr lang="pt-BR" i="1" dirty="0" err="1" smtClean="0"/>
              <a:t>Source</a:t>
            </a:r>
            <a:r>
              <a:rPr lang="pt-BR" i="1" dirty="0" smtClean="0"/>
              <a:t> Index</a:t>
            </a:r>
            <a:r>
              <a:rPr lang="pt-BR" dirty="0" smtClean="0"/>
              <a:t>” e “</a:t>
            </a:r>
            <a:r>
              <a:rPr lang="pt-BR" i="1" dirty="0" err="1" smtClean="0"/>
              <a:t>Destination</a:t>
            </a:r>
            <a:r>
              <a:rPr lang="pt-BR" i="1" dirty="0" smtClean="0"/>
              <a:t> Index</a:t>
            </a:r>
            <a:r>
              <a:rPr lang="pt-BR" dirty="0" smtClean="0"/>
              <a:t>”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Chamados também de registradores de deslocamento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Usados para movimentação de dados em “massa” pela memória</a:t>
            </a:r>
          </a:p>
          <a:p>
            <a:pPr lvl="1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dirty="0" smtClean="0"/>
              <a:t>Exemplo: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ESI guarda o endereço </a:t>
            </a:r>
            <a:r>
              <a:rPr lang="pt-BR" u="sng" dirty="0" smtClean="0">
                <a:solidFill>
                  <a:schemeClr val="accent1">
                    <a:lumMod val="75000"/>
                  </a:schemeClr>
                </a:solidFill>
              </a:rPr>
              <a:t>fonte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 do início de um vetor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EDI guardando o endereço </a:t>
            </a:r>
            <a:r>
              <a:rPr lang="pt-BR" u="sng" dirty="0" smtClean="0">
                <a:solidFill>
                  <a:schemeClr val="accent1">
                    <a:lumMod val="75000"/>
                  </a:schemeClr>
                </a:solidFill>
              </a:rPr>
              <a:t>destino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 do início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ECX guarda o tamanho do vetor</a:t>
            </a:r>
          </a:p>
          <a:p>
            <a:pPr lvl="1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dirty="0" smtClean="0"/>
              <a:t>Não podem ser acessadas em nível de byte</a:t>
            </a:r>
            <a:endParaRPr lang="pt-BR" dirty="0"/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3346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Registradores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ESP e EBP: “</a:t>
            </a:r>
            <a:r>
              <a:rPr lang="pt-BR" i="1" dirty="0" err="1" smtClean="0"/>
              <a:t>Stack</a:t>
            </a:r>
            <a:r>
              <a:rPr lang="pt-BR" i="1" dirty="0" smtClean="0"/>
              <a:t> Pointer</a:t>
            </a:r>
            <a:r>
              <a:rPr lang="pt-BR" dirty="0" smtClean="0"/>
              <a:t>” e “</a:t>
            </a:r>
            <a:r>
              <a:rPr lang="pt-BR" i="1" dirty="0" smtClean="0"/>
              <a:t>Base Pointer</a:t>
            </a:r>
            <a:r>
              <a:rPr lang="pt-BR" dirty="0" smtClean="0"/>
              <a:t>”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Só devem ser usados para manipulação da pilha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ESP guarda a referência para o topo da pilha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EBP é usado para “andar” pela pilha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14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973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Registradores de </a:t>
            </a:r>
            <a:r>
              <a:rPr lang="pt-BR" dirty="0" err="1" smtClean="0"/>
              <a:t>Flags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Através do registrador de </a:t>
            </a:r>
            <a:r>
              <a:rPr lang="pt-BR" dirty="0" err="1" smtClean="0"/>
              <a:t>flags</a:t>
            </a:r>
            <a:r>
              <a:rPr lang="pt-BR" dirty="0" smtClean="0"/>
              <a:t> podemos saber: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Se dois valores são iguais;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Se um valor é maior que outro;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Se um valor é negativo;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Se a operação anterior realizou um “vai um”;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Se a operação anterior causou um </a:t>
            </a:r>
            <a:r>
              <a:rPr lang="pt-BR" i="1" dirty="0" smtClean="0">
                <a:solidFill>
                  <a:schemeClr val="accent1">
                    <a:lumMod val="75000"/>
                  </a:schemeClr>
                </a:solidFill>
              </a:rPr>
              <a:t>overflow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...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15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3750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Registradores de </a:t>
            </a:r>
            <a:r>
              <a:rPr lang="pt-BR" dirty="0" err="1" smtClean="0"/>
              <a:t>Flags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Exemplo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16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479" y="1828801"/>
            <a:ext cx="9085409" cy="3897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0372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Instruções Assembly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Algumas instruções em Assembly: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17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755" y="1934068"/>
            <a:ext cx="4435190" cy="424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340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Instruções Assembly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Algumas instruções em Assembly: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18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088" y="2517052"/>
            <a:ext cx="4678396" cy="299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966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Instruções Assembly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Algumas instruções em Assembly: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19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317" y="2182617"/>
            <a:ext cx="5408066" cy="33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249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Instruções Assembly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Algumas instruções em Assembly: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20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660" y="2810357"/>
            <a:ext cx="4625379" cy="270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430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Instruções Assembly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Algumas instruções em Assembly: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21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686" y="2339450"/>
            <a:ext cx="5757535" cy="337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083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Instruções Assembly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Algumas instruções em Assembly: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740" y="2344945"/>
            <a:ext cx="8361219" cy="317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17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Instruções Assembly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Algumas instruções em Assembly: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387" y="2813641"/>
            <a:ext cx="5717926" cy="270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595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Instruções Assembly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Algumas instruções em Assembly: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24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459" y="2467480"/>
            <a:ext cx="5965934" cy="304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260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 Pilha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Todos os programas fazem uso da pilha em tempo de execuç</a:t>
            </a:r>
            <a:r>
              <a:rPr lang="pt-BR" dirty="0" smtClean="0"/>
              <a:t>ão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Nas linguagens de alto nível, não é preciso se preocupar com os funcionamentos da pilha</a:t>
            </a:r>
          </a:p>
          <a:p>
            <a:pPr lvl="1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Em Assembly o programador precisa saber trabalhar com a pilha, pois ela é uma ferramenta importante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 pilha é uma área de dados existentes na memória na qual seu programa pode armazenar dados temporariamente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25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272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 Pilha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Principais funcionalidades: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Preservar valores de registradores para execução de funções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Preservar dados da memória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Transferir dados sem usar registradores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Manter o histórico das chamadas de funções para retornar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Passar parâmetros para funções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26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417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 Pilha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Empilhar um inteiro significa subtrair 4 bytes de ESP e depois mover o número para a posição de memória que ESP aponta</a:t>
            </a:r>
          </a:p>
          <a:p>
            <a:pPr marL="0" indent="0">
              <a:buNone/>
            </a:pP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defRPr/>
            </a:pPr>
            <a:r>
              <a:rPr lang="en-US" sz="3200" dirty="0">
                <a:latin typeface="Arial" panose="020B0604020202020204" pitchFamily="34" charset="0"/>
              </a:rPr>
              <a:t>	</a:t>
            </a:r>
            <a:r>
              <a:rPr lang="en-US" sz="2600" dirty="0" smtClean="0">
                <a:latin typeface="Arial" panose="020B0604020202020204" pitchFamily="34" charset="0"/>
              </a:rPr>
              <a:t>PUSH </a:t>
            </a:r>
            <a:r>
              <a:rPr lang="en-US" sz="2600" dirty="0">
                <a:latin typeface="Arial" panose="020B0604020202020204" pitchFamily="34" charset="0"/>
              </a:rPr>
              <a:t>%</a:t>
            </a:r>
            <a:r>
              <a:rPr lang="en-US" sz="2600" dirty="0" err="1" smtClean="0">
                <a:latin typeface="Arial" panose="020B0604020202020204" pitchFamily="34" charset="0"/>
              </a:rPr>
              <a:t>eax</a:t>
            </a:r>
            <a:endParaRPr lang="en-US" sz="2600" dirty="0" smtClean="0">
              <a:latin typeface="Arial" panose="020B0604020202020204" pitchFamily="34" charset="0"/>
            </a:endParaRP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defRPr/>
            </a:pPr>
            <a:r>
              <a:rPr lang="en-US" sz="2600" dirty="0" smtClean="0">
                <a:latin typeface="Arial" panose="020B0604020202020204" pitchFamily="34" charset="0"/>
              </a:rPr>
              <a:t>	PUSH </a:t>
            </a:r>
            <a:r>
              <a:rPr lang="en-US" sz="2600" dirty="0">
                <a:latin typeface="Arial" panose="020B0604020202020204" pitchFamily="34" charset="0"/>
              </a:rPr>
              <a:t>%</a:t>
            </a:r>
            <a:r>
              <a:rPr lang="en-US" sz="2600" dirty="0" err="1">
                <a:latin typeface="Arial" panose="020B0604020202020204" pitchFamily="34" charset="0"/>
              </a:rPr>
              <a:t>ebx</a:t>
            </a:r>
            <a:endParaRPr lang="en-US" sz="2600" dirty="0">
              <a:latin typeface="Arial" panose="020B0604020202020204" pitchFamily="34" charset="0"/>
            </a:endParaRP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defRPr/>
            </a:pPr>
            <a:r>
              <a:rPr lang="es-ES" sz="2600" dirty="0" smtClean="0">
                <a:latin typeface="Arial" panose="020B0604020202020204" pitchFamily="34" charset="0"/>
              </a:rPr>
              <a:t>	PUSHA</a:t>
            </a:r>
            <a:endParaRPr lang="es-ES" sz="2600" dirty="0">
              <a:latin typeface="Arial" panose="020B0604020202020204" pitchFamily="34" charset="0"/>
            </a:endParaRP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defRPr/>
            </a:pPr>
            <a:r>
              <a:rPr lang="es-ES" sz="2600" dirty="0">
                <a:latin typeface="Arial" panose="020B0604020202020204" pitchFamily="34" charset="0"/>
              </a:rPr>
              <a:t>	POP %</a:t>
            </a:r>
            <a:r>
              <a:rPr lang="es-ES" sz="2600" dirty="0" err="1">
                <a:latin typeface="Arial" panose="020B0604020202020204" pitchFamily="34" charset="0"/>
              </a:rPr>
              <a:t>eax</a:t>
            </a:r>
            <a:endParaRPr lang="es-ES" sz="2600" dirty="0">
              <a:latin typeface="Arial" panose="020B0604020202020204" pitchFamily="34" charset="0"/>
            </a:endParaRP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defRPr/>
            </a:pPr>
            <a:r>
              <a:rPr lang="es-ES" sz="2600" dirty="0">
                <a:latin typeface="Arial" panose="020B0604020202020204" pitchFamily="34" charset="0"/>
              </a:rPr>
              <a:t>	POPA</a:t>
            </a:r>
          </a:p>
          <a:p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27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175" y="2377954"/>
            <a:ext cx="5470525" cy="313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7319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Assembly - Procedimentos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 estrutura: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28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984" y="2146863"/>
            <a:ext cx="8558731" cy="336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32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Assembly - Procedimentos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 estrutura: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29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22"/>
          <a:stretch>
            <a:fillRect/>
          </a:stretch>
        </p:blipFill>
        <p:spPr bwMode="auto">
          <a:xfrm>
            <a:off x="4840287" y="1196976"/>
            <a:ext cx="2016125" cy="497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9775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Um somatório em Linguagem C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30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293" y="2599449"/>
            <a:ext cx="4390113" cy="264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415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Um somatório em Linguagem Assembly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31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757" y="1716742"/>
            <a:ext cx="10783593" cy="476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68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Comportamento da pilha: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565074"/>
              </p:ext>
            </p:extLst>
          </p:nvPr>
        </p:nvGraphicFramePr>
        <p:xfrm>
          <a:off x="2305843" y="2271658"/>
          <a:ext cx="7085013" cy="3414712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312489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96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87816">
                <a:tc>
                  <a:txBody>
                    <a:bodyPr/>
                    <a:lstStyle/>
                    <a:p>
                      <a:r>
                        <a:rPr lang="pt-BR" sz="2600" dirty="0"/>
                        <a:t>Memória</a:t>
                      </a:r>
                    </a:p>
                  </a:txBody>
                  <a:tcPr marL="91422" marR="91422" marT="45743" marB="45743" anchor="ctr"/>
                </a:tc>
                <a:tc>
                  <a:txBody>
                    <a:bodyPr/>
                    <a:lstStyle/>
                    <a:p>
                      <a:r>
                        <a:rPr lang="pt-BR" sz="2600" dirty="0"/>
                        <a:t>Informação</a:t>
                      </a:r>
                    </a:p>
                  </a:txBody>
                  <a:tcPr marL="91422" marR="91422" marT="45743" marB="45743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7816">
                <a:tc>
                  <a:txBody>
                    <a:bodyPr/>
                    <a:lstStyle/>
                    <a:p>
                      <a:r>
                        <a:rPr lang="pt-BR" sz="2600" dirty="0"/>
                        <a:t>EBP+8</a:t>
                      </a:r>
                    </a:p>
                  </a:txBody>
                  <a:tcPr marL="91422" marR="91422" marT="45743" marB="45743" anchor="ctr"/>
                </a:tc>
                <a:tc>
                  <a:txBody>
                    <a:bodyPr/>
                    <a:lstStyle/>
                    <a:p>
                      <a:r>
                        <a:rPr lang="pt-BR" sz="2600" dirty="0"/>
                        <a:t>Parâmetro </a:t>
                      </a:r>
                      <a:r>
                        <a:rPr lang="pt-BR" sz="2600" i="1" dirty="0"/>
                        <a:t>n</a:t>
                      </a:r>
                      <a:endParaRPr lang="pt-BR" sz="2600" dirty="0"/>
                    </a:p>
                  </a:txBody>
                  <a:tcPr marL="91422" marR="91422" marT="45743" marB="45743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87816">
                <a:tc>
                  <a:txBody>
                    <a:bodyPr/>
                    <a:lstStyle/>
                    <a:p>
                      <a:r>
                        <a:rPr lang="pt-BR" sz="2600" dirty="0"/>
                        <a:t>EBP+4</a:t>
                      </a:r>
                    </a:p>
                  </a:txBody>
                  <a:tcPr marL="91422" marR="91422" marT="45743" marB="45743" anchor="ctr"/>
                </a:tc>
                <a:tc>
                  <a:txBody>
                    <a:bodyPr/>
                    <a:lstStyle/>
                    <a:p>
                      <a:r>
                        <a:rPr lang="pt-BR" sz="2600" dirty="0"/>
                        <a:t>Endereço de</a:t>
                      </a:r>
                      <a:r>
                        <a:rPr lang="pt-BR" sz="2600" baseline="0" dirty="0"/>
                        <a:t> retorno</a:t>
                      </a:r>
                      <a:endParaRPr lang="pt-BR" sz="2600" dirty="0"/>
                    </a:p>
                  </a:txBody>
                  <a:tcPr marL="91422" marR="91422" marT="45743" marB="45743" anchor="ctr"/>
                </a:tc>
                <a:extLst>
                  <a:ext uri="{0D108BD9-81ED-4DB2-BD59-A6C34878D82A}">
                    <a16:rowId xmlns:a16="http://schemas.microsoft.com/office/drawing/2014/main" xmlns="" val="1171975619"/>
                  </a:ext>
                </a:extLst>
              </a:tr>
              <a:tr h="487816">
                <a:tc>
                  <a:txBody>
                    <a:bodyPr/>
                    <a:lstStyle/>
                    <a:p>
                      <a:r>
                        <a:rPr lang="pt-BR" sz="2600" dirty="0"/>
                        <a:t>EBP</a:t>
                      </a:r>
                    </a:p>
                  </a:txBody>
                  <a:tcPr marL="91422" marR="91422" marT="45743" marB="45743" anchor="ctr"/>
                </a:tc>
                <a:tc>
                  <a:txBody>
                    <a:bodyPr/>
                    <a:lstStyle/>
                    <a:p>
                      <a:r>
                        <a:rPr lang="pt-BR" sz="2600" dirty="0"/>
                        <a:t>Endereço</a:t>
                      </a:r>
                      <a:r>
                        <a:rPr lang="pt-BR" sz="2600" baseline="0" dirty="0"/>
                        <a:t> da base</a:t>
                      </a:r>
                      <a:r>
                        <a:rPr lang="pt-BR" sz="2600" dirty="0"/>
                        <a:t> anterior</a:t>
                      </a:r>
                    </a:p>
                  </a:txBody>
                  <a:tcPr marL="91422" marR="91422" marT="45743" marB="45743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87816">
                <a:tc>
                  <a:txBody>
                    <a:bodyPr/>
                    <a:lstStyle/>
                    <a:p>
                      <a:r>
                        <a:rPr lang="pt-BR" sz="2600" dirty="0"/>
                        <a:t>EBP-4</a:t>
                      </a:r>
                    </a:p>
                  </a:txBody>
                  <a:tcPr marL="91422" marR="91422" marT="45743" marB="45743" anchor="ctr"/>
                </a:tc>
                <a:tc>
                  <a:txBody>
                    <a:bodyPr/>
                    <a:lstStyle/>
                    <a:p>
                      <a:r>
                        <a:rPr lang="pt-BR" sz="2600" i="0" dirty="0"/>
                        <a:t>Variável</a:t>
                      </a:r>
                      <a:r>
                        <a:rPr lang="pt-BR" sz="2600" i="0" baseline="0" dirty="0"/>
                        <a:t> </a:t>
                      </a:r>
                      <a:r>
                        <a:rPr lang="pt-BR" sz="2600" i="1" dirty="0"/>
                        <a:t>soma</a:t>
                      </a:r>
                      <a:endParaRPr lang="pt-BR" sz="2600" dirty="0"/>
                    </a:p>
                  </a:txBody>
                  <a:tcPr marL="91422" marR="91422" marT="45743" marB="45743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87816">
                <a:tc>
                  <a:txBody>
                    <a:bodyPr/>
                    <a:lstStyle/>
                    <a:p>
                      <a:r>
                        <a:rPr lang="pt-BR" sz="2600" dirty="0"/>
                        <a:t>EBP-8</a:t>
                      </a:r>
                    </a:p>
                  </a:txBody>
                  <a:tcPr marL="91422" marR="91422" marT="45743" marB="45743" anchor="ctr"/>
                </a:tc>
                <a:tc>
                  <a:txBody>
                    <a:bodyPr/>
                    <a:lstStyle/>
                    <a:p>
                      <a:r>
                        <a:rPr lang="pt-BR" sz="2600" i="0" dirty="0"/>
                        <a:t>Variável</a:t>
                      </a:r>
                      <a:r>
                        <a:rPr lang="pt-BR" sz="2600" i="1" dirty="0"/>
                        <a:t> i</a:t>
                      </a:r>
                      <a:endParaRPr lang="pt-BR" sz="2600" dirty="0"/>
                    </a:p>
                  </a:txBody>
                  <a:tcPr marL="91422" marR="91422" marT="45743" marB="45743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87816">
                <a:tc>
                  <a:txBody>
                    <a:bodyPr/>
                    <a:lstStyle/>
                    <a:p>
                      <a:r>
                        <a:rPr lang="pt-BR" sz="2600" dirty="0"/>
                        <a:t>EBP-12 (=ESP)</a:t>
                      </a:r>
                    </a:p>
                  </a:txBody>
                  <a:tcPr marL="91422" marR="91422" marT="45743" marB="45743" anchor="ctr"/>
                </a:tc>
                <a:tc>
                  <a:txBody>
                    <a:bodyPr/>
                    <a:lstStyle/>
                    <a:p>
                      <a:r>
                        <a:rPr lang="pt-BR" sz="2600" dirty="0"/>
                        <a:t>Topo</a:t>
                      </a:r>
                    </a:p>
                  </a:txBody>
                  <a:tcPr marL="91422" marR="91422" marT="45743" marB="45743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7351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Assembly - Seções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 código Assembly é dividido em seções</a:t>
            </a:r>
          </a:p>
          <a:p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dirty="0" err="1" smtClean="0"/>
              <a:t>section</a:t>
            </a:r>
            <a:r>
              <a:rPr lang="pt-BR" dirty="0" smtClean="0"/>
              <a:t> .data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É usada para declarar “variáveis” inicializadas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Essas “variáveis” não mudam no decorrer do programa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Essa seção é usada geralmente para definir nomes de arquivos e constantes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2833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Assembly - Seções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Um exemplo:</a:t>
            </a:r>
          </a:p>
          <a:p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sz="2800" dirty="0" smtClean="0">
                <a:latin typeface="Arial" panose="020B0604020202020204" pitchFamily="34" charset="0"/>
              </a:rPr>
              <a:t>	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section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.data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	</a:t>
            </a:r>
            <a:r>
              <a:rPr lang="en-US" sz="2800" dirty="0" err="1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mensagem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: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db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'Hello world!'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	</a:t>
            </a:r>
            <a:r>
              <a:rPr lang="en-US" sz="2800" dirty="0" err="1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msglength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: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equ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12 </a:t>
            </a:r>
          </a:p>
          <a:p>
            <a:pPr marL="0" indent="0">
              <a:buNone/>
            </a:pP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34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313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Assembly - Seções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err="1" smtClean="0"/>
              <a:t>section</a:t>
            </a:r>
            <a:r>
              <a:rPr lang="pt-BR" dirty="0" smtClean="0"/>
              <a:t> .</a:t>
            </a:r>
            <a:r>
              <a:rPr lang="pt-BR" dirty="0" err="1" smtClean="0"/>
              <a:t>text</a:t>
            </a:r>
            <a:endParaRPr lang="pt-BR" dirty="0"/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Essa é a seção onde o código do programa é escrito</a:t>
            </a:r>
          </a:p>
          <a:p>
            <a:pPr lvl="1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pt-BR" sz="2600" dirty="0" smtClean="0">
                <a:latin typeface="Arial" panose="020B0604020202020204" pitchFamily="34" charset="0"/>
              </a:rPr>
              <a:t>	</a:t>
            </a:r>
            <a:r>
              <a:rPr lang="pt-BR" sz="2600" dirty="0" err="1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section</a:t>
            </a:r>
            <a:r>
              <a:rPr lang="pt-BR" sz="26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pt-BR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.</a:t>
            </a:r>
            <a:r>
              <a:rPr lang="pt-BR" sz="2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text</a:t>
            </a:r>
            <a:r>
              <a:rPr lang="pt-BR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pt-BR" sz="26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	global </a:t>
            </a:r>
            <a:r>
              <a:rPr lang="pt-BR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_start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pt-BR" sz="26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	_</a:t>
            </a:r>
            <a:r>
              <a:rPr lang="pt-BR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start:</a:t>
            </a:r>
          </a:p>
          <a:p>
            <a:pPr lvl="1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35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3542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Assembly -Interrupções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Interrupções são chamadas ao Sistema Operacional requisitando um serviço de “baixo nível”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O nome “interrupção” é utilizado porque de fato o processador tem sua atividade atual interrompida quando recebe este tipo de sinal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Quando acontece, o processador salva o contexto do programa atual e executa o código relativo àquela interrupção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Após a execução do código, o processador retorna ao programa que estava anteriormente</a:t>
            </a: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36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1406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Assembly -Interrupções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Em nível de código Assembly, devemos chamar interrupções para a realização de algumas operações, como impressão de informações</a:t>
            </a:r>
          </a:p>
          <a:p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dirty="0" smtClean="0"/>
              <a:t>Para chamar uma interrupção é feito o seguinte processo: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Coloca-se o número da interrupção no registrador EAX;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Coloca-se os argumentos requeridos pela interrupção nos devidos registradores;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Chama-se a instrução de interrupção (INT)</a:t>
            </a:r>
          </a:p>
          <a:p>
            <a:pPr lvl="1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dirty="0" smtClean="0"/>
              <a:t>Caso tenha resultado, geralmente será retornado em EAX</a:t>
            </a: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37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7974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Assembly -Interrupções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Exemplo: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Instruções para encerrar um programa</a:t>
            </a: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38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948" y="3170921"/>
            <a:ext cx="5326446" cy="147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351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Assembly -Interrupções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Exemplo:</a:t>
            </a:r>
          </a:p>
          <a:p>
            <a:pPr lvl="1"/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Hello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 World</a:t>
            </a:r>
          </a:p>
          <a:p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39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221" y="2653639"/>
            <a:ext cx="7362497" cy="334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09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xmlns="" id="{B68B67C0-84A0-4EE8-8F3B-2111EEE89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782" y="2731721"/>
            <a:ext cx="4036572" cy="1671210"/>
          </a:xfrm>
          <a:noFill/>
          <a:ln>
            <a:noFill/>
          </a:ln>
        </p:spPr>
        <p:txBody>
          <a:bodyPr>
            <a:noAutofit/>
          </a:bodyPr>
          <a:lstStyle/>
          <a:p>
            <a:r>
              <a:rPr lang="pt-BR" sz="7200" smtClean="0">
                <a:solidFill>
                  <a:srgbClr val="002060"/>
                </a:solidFill>
              </a:rPr>
              <a:t>Dúvidas?</a:t>
            </a:r>
            <a:endParaRPr lang="pt-BR" sz="7200" dirty="0">
              <a:solidFill>
                <a:srgbClr val="002060"/>
              </a:solidFill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9AE4586E-792C-45FA-9D45-E8551058C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11696700" cy="365125"/>
          </a:xfrm>
        </p:spPr>
        <p:txBody>
          <a:bodyPr/>
          <a:lstStyle/>
          <a:p>
            <a:r>
              <a:rPr lang="pt-BR" dirty="0"/>
              <a:t>Arquitetura e Organização de Computadores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1F1A3EB8-AB58-4E9C-AFF1-F419E5DDE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6700" y="6492875"/>
            <a:ext cx="495300" cy="365125"/>
          </a:xfrm>
        </p:spPr>
        <p:txBody>
          <a:bodyPr/>
          <a:lstStyle/>
          <a:p>
            <a:fld id="{DBDB6521-5767-44C1-B935-036EFCA3B4E2}" type="slidenum">
              <a:rPr lang="pt-BR" smtClean="0"/>
              <a:t>40</a:t>
            </a:fld>
            <a:endParaRPr lang="pt-BR" dirty="0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2971" y="2816785"/>
            <a:ext cx="3327239" cy="1586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50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4478</TotalTime>
  <Words>1297</Words>
  <Application>Microsoft Office PowerPoint</Application>
  <PresentationFormat>Widescreen</PresentationFormat>
  <Paragraphs>334</Paragraphs>
  <Slides>40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3" baseType="lpstr">
      <vt:lpstr>Arial</vt:lpstr>
      <vt:lpstr>Calibri</vt:lpstr>
      <vt:lpstr>Tema do Office</vt:lpstr>
      <vt:lpstr>Introdução ao Assembly</vt:lpstr>
      <vt:lpstr>Introdução</vt:lpstr>
      <vt:lpstr>Introdução</vt:lpstr>
      <vt:lpstr>Histórico</vt:lpstr>
      <vt:lpstr>Histórico</vt:lpstr>
      <vt:lpstr>Histórico</vt:lpstr>
      <vt:lpstr>Assembler</vt:lpstr>
      <vt:lpstr>Fundamentos</vt:lpstr>
      <vt:lpstr>Fundamentos</vt:lpstr>
      <vt:lpstr>Registradores</vt:lpstr>
      <vt:lpstr>Registradores</vt:lpstr>
      <vt:lpstr>Registradores</vt:lpstr>
      <vt:lpstr>Registradores</vt:lpstr>
      <vt:lpstr>Registradores</vt:lpstr>
      <vt:lpstr>Registradores de Flags</vt:lpstr>
      <vt:lpstr>Registradores de Flags</vt:lpstr>
      <vt:lpstr>Instruções Assembly</vt:lpstr>
      <vt:lpstr>Instruções Assembly</vt:lpstr>
      <vt:lpstr>Instruções Assembly</vt:lpstr>
      <vt:lpstr>Instruções Assembly</vt:lpstr>
      <vt:lpstr>Instruções Assembly</vt:lpstr>
      <vt:lpstr>Instruções Assembly</vt:lpstr>
      <vt:lpstr>Instruções Assembly</vt:lpstr>
      <vt:lpstr>Instruções Assembly</vt:lpstr>
      <vt:lpstr>A Pilha</vt:lpstr>
      <vt:lpstr>A Pilha</vt:lpstr>
      <vt:lpstr>A Pilha</vt:lpstr>
      <vt:lpstr>Assembly - Procedimentos</vt:lpstr>
      <vt:lpstr>Assembly - Procedimentos</vt:lpstr>
      <vt:lpstr>Exemplo</vt:lpstr>
      <vt:lpstr>Exemplo</vt:lpstr>
      <vt:lpstr>Exemplo</vt:lpstr>
      <vt:lpstr>Assembly - Seções</vt:lpstr>
      <vt:lpstr>Assembly - Seções</vt:lpstr>
      <vt:lpstr>Assembly - Seções</vt:lpstr>
      <vt:lpstr>Assembly -Interrupções</vt:lpstr>
      <vt:lpstr>Assembly -Interrupções</vt:lpstr>
      <vt:lpstr>Assembly -Interrupções</vt:lpstr>
      <vt:lpstr>Assembly -Interrupções</vt:lpstr>
      <vt:lpstr>Dúvidas?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Assistive Haptic System Towards Visually Impaired Computer Science Learning</dc:title>
  <dc:creator>Alisson Renan Svaigen</dc:creator>
  <cp:lastModifiedBy>Felippe Fernandes da Silva</cp:lastModifiedBy>
  <cp:revision>381</cp:revision>
  <dcterms:created xsi:type="dcterms:W3CDTF">2018-05-19T12:58:17Z</dcterms:created>
  <dcterms:modified xsi:type="dcterms:W3CDTF">2021-08-11T21:09:48Z</dcterms:modified>
</cp:coreProperties>
</file>