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407" r:id="rId3"/>
    <p:sldId id="408" r:id="rId4"/>
    <p:sldId id="409" r:id="rId5"/>
    <p:sldId id="410" r:id="rId6"/>
    <p:sldId id="412" r:id="rId7"/>
    <p:sldId id="411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35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09/02/2022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Aritm</a:t>
            </a:r>
            <a:r>
              <a:rPr lang="pt-BR" sz="4600" dirty="0" smtClean="0"/>
              <a:t>ética Computacional – Pontos Flutuantes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xmlns="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Para números decimais, usa-se a notação científica: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 fórmula da notação é:</a:t>
            </a:r>
          </a:p>
          <a:p>
            <a:pPr marL="0" indent="0">
              <a:buNone/>
            </a:pPr>
            <a:endParaRPr lang="pt-BR" dirty="0" smtClean="0"/>
          </a:p>
          <a:p>
            <a:r>
              <a:rPr lang="pt-BR" dirty="0" smtClean="0"/>
              <a:t>Porque utilizar notação Científica?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Representar números muito grandes e muito pequenos com apenas alguns dígitos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95" y="1923394"/>
            <a:ext cx="4532790" cy="81717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367" y="3175602"/>
            <a:ext cx="3818428" cy="114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computador também utilizada notação científica para representar números de ponto flutuante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05" y="2494727"/>
            <a:ext cx="5399959" cy="24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8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/>
              <a:t>+/- Significando x 2 </a:t>
            </a:r>
            <a:r>
              <a:rPr lang="pt-BR" baseline="30000" dirty="0" smtClean="0"/>
              <a:t>Exponente</a:t>
            </a:r>
            <a:endParaRPr lang="pt-BR" baseline="30000" dirty="0"/>
          </a:p>
          <a:p>
            <a:pPr lvl="1"/>
            <a:endParaRPr lang="pt-BR" dirty="0" smtClean="0"/>
          </a:p>
          <a:p>
            <a:r>
              <a:rPr lang="pt-BR" dirty="0" smtClean="0"/>
              <a:t>A base é implícita e não precisa ser armazenada, pois é a mesma para todos os números</a:t>
            </a:r>
            <a:endParaRPr lang="pt-BR" baseline="30000" dirty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794" y="1456471"/>
            <a:ext cx="76676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15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O intervalo de valor do expoente “puro” é de 0-255</a:t>
            </a:r>
          </a:p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Porém a polarização adiciona o valor 127 ao expoente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Porque polarizar? Para não haver necessidade de representar expoentes negativos!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Intervalo de representação verdadeiro: -127 à +128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794" y="1456471"/>
            <a:ext cx="76676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301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794" y="1456471"/>
            <a:ext cx="76676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346" y="3632565"/>
            <a:ext cx="9364019" cy="182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9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 - Normalização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Números de ponto flutuante geralmente são normalizados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expoente é ajustado de modo que o bit inicial seja sempre 1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Funciona da mesma forma em notação científica:</a:t>
            </a:r>
          </a:p>
          <a:p>
            <a:pPr marL="1358900" lvl="2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rgbClr val="00B0F0"/>
                </a:solidFill>
              </a:rPr>
              <a:t>Os números são normalizados para um único dígito antes do ponto decimal</a:t>
            </a:r>
          </a:p>
          <a:p>
            <a:pPr marL="1358900" lvl="2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err="1" smtClean="0">
                <a:solidFill>
                  <a:srgbClr val="00B0F0"/>
                </a:solidFill>
              </a:rPr>
              <a:t>Ex</a:t>
            </a:r>
            <a:r>
              <a:rPr lang="pt-BR" dirty="0" smtClean="0">
                <a:solidFill>
                  <a:srgbClr val="00B0F0"/>
                </a:solidFill>
              </a:rPr>
              <a:t>: 2123 = 2,123 x 10³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Por ser sempre 1, não é preciso armazená-lo.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79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Exemplo: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743075"/>
            <a:ext cx="816292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21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Exemplo de Overflow: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(1,110 x 2¹²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 x (1,010 x 2¹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00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 = 1,00011 x 2²²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  <a:p>
            <a:pPr lvl="1"/>
            <a:endParaRPr lang="pt-BR" baseline="30000" dirty="0"/>
          </a:p>
          <a:p>
            <a:r>
              <a:rPr lang="pt-BR" dirty="0"/>
              <a:t>Exemplo de </a:t>
            </a:r>
            <a:r>
              <a:rPr lang="pt-BR" dirty="0" err="1" smtClean="0"/>
              <a:t>Underflow</a:t>
            </a:r>
            <a:r>
              <a:rPr lang="pt-BR" dirty="0" smtClean="0"/>
              <a:t>:</a:t>
            </a:r>
          </a:p>
          <a:p>
            <a:pPr lvl="1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(1,110 x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¹²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) x (1,010 x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baseline="300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¹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00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) = 1,00011 x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baseline="30000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²²</a:t>
            </a:r>
            <a:r>
              <a:rPr lang="pt-BR" baseline="30000" dirty="0" smtClean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pt-BR" baseline="300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O </a:t>
            </a:r>
            <a:r>
              <a:rPr lang="pt-BR" dirty="0" err="1" smtClean="0"/>
              <a:t>underflow</a:t>
            </a:r>
            <a:r>
              <a:rPr lang="pt-BR" dirty="0" smtClean="0"/>
              <a:t> é menos crítico que o overflow, pois o valor pode ser aproximado para 0</a:t>
            </a:r>
            <a:endParaRPr lang="pt-BR" dirty="0"/>
          </a:p>
          <a:p>
            <a:endParaRPr lang="pt-BR" baseline="30000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40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Não há, a princípio, representação para 0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padrão de bits especial para representação do 0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endParaRPr lang="pt-BR" dirty="0"/>
          </a:p>
          <a:p>
            <a:pPr marL="444500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/>
              <a:t>O número máximo de valores distintos representáveis continua sendo 2³²</a:t>
            </a:r>
          </a:p>
          <a:p>
            <a:pPr marL="901700" lvl="1" indent="-444500">
              <a:spcBef>
                <a:spcPts val="600"/>
              </a:spcBef>
              <a:spcAft>
                <a:spcPts val="600"/>
              </a:spcAft>
              <a:tabLst>
                <a:tab pos="631825" algn="l"/>
                <a:tab pos="685800" algn="l"/>
                <a:tab pos="1143000" algn="l"/>
                <a:tab pos="1600200" algn="l"/>
                <a:tab pos="2057400" algn="l"/>
                <a:tab pos="2514600" algn="l"/>
                <a:tab pos="2971800" algn="l"/>
                <a:tab pos="3429000" algn="l"/>
                <a:tab pos="3886200" algn="l"/>
                <a:tab pos="4343400" algn="l"/>
                <a:tab pos="4800600" algn="l"/>
                <a:tab pos="5257800" algn="l"/>
                <a:tab pos="5715000" algn="l"/>
                <a:tab pos="6172200" algn="l"/>
                <a:tab pos="6629400" algn="l"/>
                <a:tab pos="7086600" algn="l"/>
                <a:tab pos="7543800" algn="l"/>
                <a:tab pos="8001000" algn="l"/>
                <a:tab pos="8458200" algn="l"/>
                <a:tab pos="8915400" algn="l"/>
                <a:tab pos="9372600" algn="l"/>
                <a:tab pos="9601200" algn="l"/>
                <a:tab pos="10058400" algn="l"/>
                <a:tab pos="10515600" algn="l"/>
              </a:tabLst>
              <a:defRPr/>
            </a:pP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representação em ponto flutuante apenas divide esses valores em duas faixas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baseline="30000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27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Há uma relação estreita entre os tamanhos dos campos reservados ao significando e ao expoente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Para um tamanho fixo de palavra: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o número de bits reservados ao significando aumentar: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Maior precisão.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Menor faixa de valores representáveis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o número de bits reservados ao expoente aumentar: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Menor precisão.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Maior faixa de valores representáveis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36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Padrão IEEE 754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50" y="2052637"/>
            <a:ext cx="8785225" cy="425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58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Parâmetros do formato IEEE 754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625" y="2144592"/>
            <a:ext cx="80581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22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Valores especiais definidos no IEEE 754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068392"/>
            <a:ext cx="95250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39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Overflow de expoente: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expoente positivo excede o valor máximo possível para expoente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Em alguns sistemas pode ser designado com +infinito ou –infinito</a:t>
            </a:r>
          </a:p>
          <a:p>
            <a:pPr lvl="1"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err="1" smtClean="0"/>
              <a:t>Underflow</a:t>
            </a:r>
            <a:r>
              <a:rPr lang="pt-BR" dirty="0" smtClean="0"/>
              <a:t> de expoente: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expoente negativo é menor que o valor mínimo possível para expoente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Isso significa que o número é muito pequeno para ser representado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Pode ser informado como 0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84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err="1" smtClean="0"/>
              <a:t>Underflow</a:t>
            </a:r>
            <a:r>
              <a:rPr lang="pt-BR" dirty="0" smtClean="0"/>
              <a:t> de significando: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 processo de “alinhamento dos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significandos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” (em uma operação), os dígitos podem sair pela extremidade direita do significando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Pode ser necessário algum arredondamento</a:t>
            </a:r>
          </a:p>
          <a:p>
            <a:pPr lvl="1"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smtClean="0"/>
              <a:t>Overflow de significando: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adição de dois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significandos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pode resultar em um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cary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pelo bit mais significativo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Pode ser resolvido pelo realinhamento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18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Passo para as Operações de Soma/Subtração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1) Verificação de zero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2) Alinha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significandos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(ajustando expoentes)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3) Adição dos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significandos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4) Normalize resultado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43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Operações de Soma/Subtração: Passo 1 – Verificação de Zero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adição e a subtração são idênticas, exceto por uma mudança de sinal: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Se for uma operação de subtração, o processo começa alterando o sinal do subtraendo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Em seguida, se algum operando for 0, o outro é informado como o resultado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60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Operações de Soma/Subtração: Passo 2 – Alinhamento do Significando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próxima fase é manipular os números de modo que os dois expoentes sejam iguais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alinhamento é obtido deslocando repetidamente a parte de magnitude do significando 1 dígito para a direita, e aumentando o expoente até que os dois expoentes sejam iguais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esse processo resultar em um valor 0 para o significando, então o outro número é informado como resultado</a:t>
            </a:r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43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Operações de Soma/Subtração: Passo 3 – Adição dos </a:t>
            </a:r>
            <a:r>
              <a:rPr lang="pt-BR" dirty="0" err="1" smtClean="0"/>
              <a:t>significandos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Os dois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significandos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são somados, podendo ocasionar: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1. Resultando 0: Se os </a:t>
            </a:r>
            <a:r>
              <a:rPr lang="pt-BR" dirty="0" err="1" smtClean="0">
                <a:solidFill>
                  <a:srgbClr val="00B0F0"/>
                </a:solidFill>
              </a:rPr>
              <a:t>significandos</a:t>
            </a:r>
            <a:r>
              <a:rPr lang="pt-BR" dirty="0" smtClean="0">
                <a:solidFill>
                  <a:srgbClr val="00B0F0"/>
                </a:solidFill>
              </a:rPr>
              <a:t> forem iguais em valor, porém diferentes em sinal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2. Overflow do significando por 1 dígito: A soma gerou um </a:t>
            </a:r>
            <a:r>
              <a:rPr lang="pt-BR" dirty="0" err="1" smtClean="0">
                <a:solidFill>
                  <a:srgbClr val="00B0F0"/>
                </a:solidFill>
              </a:rPr>
              <a:t>carry</a:t>
            </a:r>
            <a:r>
              <a:rPr lang="pt-BR" dirty="0" smtClean="0">
                <a:solidFill>
                  <a:srgbClr val="00B0F0"/>
                </a:solidFill>
              </a:rPr>
              <a:t>. Se isso acontecer, o significando resultado é deslocado para a direita e o expoente é incrementado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3. Overflow de expoente: O expoente foi incrementado e passou do valor máximo. Isso é informado e a operação encerrada.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58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Operações de Soma/Subtração: Passo 4 - Normalização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fase final normaliza o resultado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Consiste no deslocamento dos dígitos do significando para a esquerda até que o dígito mais significativo seja diferente de zero.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Cada deslocamento causa um decremento do expoente e, portanto, poderá ocasionar um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underflow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do expoente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Finalmente, o resultado poderá ser arredondado e depois informado</a:t>
            </a:r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78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Passos para as operações de Multiplicação/Divisão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1) Verifique zero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2) Soma/subtraia expoentes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3) Multiplique/divida </a:t>
            </a:r>
            <a:r>
              <a:rPr lang="pt-BR" dirty="0" err="1" smtClean="0">
                <a:solidFill>
                  <a:srgbClr val="0070C0"/>
                </a:solidFill>
              </a:rPr>
              <a:t>significandos</a:t>
            </a:r>
            <a:r>
              <a:rPr lang="pt-BR" dirty="0" smtClean="0">
                <a:solidFill>
                  <a:srgbClr val="0070C0"/>
                </a:solidFill>
              </a:rPr>
              <a:t> (observando sinal)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4) Normalize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5) Arredonde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Algoritmo para a multiplicação Z &lt;- X * Y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10"/>
          <p:cNvGrpSpPr>
            <a:grpSpLocks noChangeAspect="1"/>
          </p:cNvGrpSpPr>
          <p:nvPr/>
        </p:nvGrpSpPr>
        <p:grpSpPr bwMode="auto">
          <a:xfrm>
            <a:off x="3194398" y="1721316"/>
            <a:ext cx="5307903" cy="4610428"/>
            <a:chOff x="2434" y="1117"/>
            <a:chExt cx="3551" cy="3084"/>
          </a:xfrm>
        </p:grpSpPr>
        <p:sp>
          <p:nvSpPr>
            <p:cNvPr id="9" name="AutoShape 9"/>
            <p:cNvSpPr>
              <a:spLocks noChangeAspect="1" noChangeArrowheads="1" noTextEdit="1"/>
            </p:cNvSpPr>
            <p:nvPr/>
          </p:nvSpPr>
          <p:spPr bwMode="auto">
            <a:xfrm>
              <a:off x="2434" y="1117"/>
              <a:ext cx="3551" cy="3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pic>
          <p:nvPicPr>
            <p:cNvPr id="10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4" y="1117"/>
              <a:ext cx="3558" cy="3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508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com Ponto Flutuante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Algoritmo para a multiplicação Z &lt;- X / Y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 bwMode="auto">
          <a:xfrm>
            <a:off x="3273252" y="1737300"/>
            <a:ext cx="5150196" cy="4594444"/>
            <a:chOff x="2470" y="1150"/>
            <a:chExt cx="3457" cy="3084"/>
          </a:xfrm>
        </p:grpSpPr>
        <p:sp>
          <p:nvSpPr>
            <p:cNvPr id="12" name="AutoShape 9"/>
            <p:cNvSpPr>
              <a:spLocks noChangeAspect="1" noChangeArrowheads="1" noTextEdit="1"/>
            </p:cNvSpPr>
            <p:nvPr/>
          </p:nvSpPr>
          <p:spPr bwMode="auto">
            <a:xfrm>
              <a:off x="2470" y="1150"/>
              <a:ext cx="3457" cy="3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pic>
          <p:nvPicPr>
            <p:cNvPr id="13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0" y="1150"/>
              <a:ext cx="3464" cy="3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8372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5102</TotalTime>
  <Words>1062</Words>
  <Application>Microsoft Office PowerPoint</Application>
  <PresentationFormat>Widescreen</PresentationFormat>
  <Paragraphs>197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Calibri</vt:lpstr>
      <vt:lpstr>Tema do Office</vt:lpstr>
      <vt:lpstr>Aritmética Computacional – Pontos Flutuantes</vt:lpstr>
      <vt:lpstr>Representação de Ponto Flutuante</vt:lpstr>
      <vt:lpstr>Representação de Ponto Flutuante</vt:lpstr>
      <vt:lpstr>Representação de Ponto Flutuante</vt:lpstr>
      <vt:lpstr>Representação de Ponto Flutuante</vt:lpstr>
      <vt:lpstr>Representação de Ponto Flutuante</vt:lpstr>
      <vt:lpstr>Representação de Ponto Flutuante - Normalização</vt:lpstr>
      <vt:lpstr>Representação de Ponto Flutuante</vt:lpstr>
      <vt:lpstr>Representação de Ponto Flutuante</vt:lpstr>
      <vt:lpstr>Representação de Ponto Flutuante</vt:lpstr>
      <vt:lpstr>Representação de Ponto Flutuante</vt:lpstr>
      <vt:lpstr>Representação de Ponto Flutuante</vt:lpstr>
      <vt:lpstr>Representação de Ponto Flutuante</vt:lpstr>
      <vt:lpstr>Representação de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Aritmética com Ponto Flutuante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521</cp:revision>
  <dcterms:created xsi:type="dcterms:W3CDTF">2018-05-19T12:58:17Z</dcterms:created>
  <dcterms:modified xsi:type="dcterms:W3CDTF">2022-02-10T01:44:13Z</dcterms:modified>
</cp:coreProperties>
</file>