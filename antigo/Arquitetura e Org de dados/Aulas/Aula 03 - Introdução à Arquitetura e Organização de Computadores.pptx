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sldIdLst>
    <p:sldId id="256" r:id="rId2"/>
    <p:sldId id="407" r:id="rId3"/>
    <p:sldId id="408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38" r:id="rId34"/>
    <p:sldId id="439" r:id="rId35"/>
    <p:sldId id="440" r:id="rId36"/>
    <p:sldId id="441" r:id="rId37"/>
    <p:sldId id="357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sson Renan Svaigen" initials="ARS" lastIdx="1" clrIdx="0">
    <p:extLst>
      <p:ext uri="{19B8F6BF-5375-455C-9EA6-DF929625EA0E}">
        <p15:presenceInfo xmlns:p15="http://schemas.microsoft.com/office/powerpoint/2012/main" userId="87d620b7ea1451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F4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5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FCDB7B-D632-485B-9A2A-E0A169BDD1C9}" type="datetimeFigureOut">
              <a:rPr lang="pt-BR" smtClean="0"/>
              <a:t>21/01/2022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FF906-620E-4E4D-AD83-85F9956C52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74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44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34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38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00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53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062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0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63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871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MannaHap: um modelo de sistema háptico assistivo de representação de imagens para deficientes visuais | Álisson Renan Svaigen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36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1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09006" y="1168400"/>
            <a:ext cx="11696700" cy="500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0" y="6486525"/>
            <a:ext cx="116967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MannaHap: um modelo de sistema háptico assistivo de representação de imagens para deficientes visuais | Álisson Renan Svaigen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1696700" y="6486525"/>
            <a:ext cx="495300" cy="36512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none"/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BDB6521-5767-44C1-B935-036EFCA3B4E2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666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906508"/>
            <a:ext cx="12191999" cy="175999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pt-BR" sz="4600" b="1" dirty="0" smtClean="0"/>
              <a:t>Introdução </a:t>
            </a:r>
            <a:r>
              <a:rPr lang="pt-BR" sz="4600" dirty="0" smtClean="0"/>
              <a:t>à Arquitetura e Organização de Computadores</a:t>
            </a:r>
            <a:endParaRPr lang="pt-BR" sz="46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75094" y="4112734"/>
            <a:ext cx="7441808" cy="1879763"/>
          </a:xfrm>
        </p:spPr>
        <p:txBody>
          <a:bodyPr>
            <a:normAutofit/>
          </a:bodyPr>
          <a:lstStyle/>
          <a:p>
            <a:r>
              <a:rPr lang="pt-BR" b="1" dirty="0" smtClean="0"/>
              <a:t>Professor Felippe Fernandes da Silva</a:t>
            </a:r>
            <a:endParaRPr lang="pt-BR" b="1" dirty="0"/>
          </a:p>
          <a:p>
            <a:r>
              <a:rPr lang="pt-BR" dirty="0" smtClean="0"/>
              <a:t>ffsilva2@uem.br</a:t>
            </a:r>
            <a:endParaRPr lang="pt-BR" dirty="0"/>
          </a:p>
        </p:txBody>
      </p:sp>
      <p:sp>
        <p:nvSpPr>
          <p:cNvPr id="9" name="Subtítulo 2">
            <a:extLst>
              <a:ext uri="{FF2B5EF4-FFF2-40B4-BE49-F238E27FC236}">
                <a16:creationId xmlns="" xmlns:a16="http://schemas.microsoft.com/office/drawing/2014/main" id="{1A540BBE-3281-43C6-8695-E79F42A38A82}"/>
              </a:ext>
            </a:extLst>
          </p:cNvPr>
          <p:cNvSpPr txBox="1">
            <a:spLocks/>
          </p:cNvSpPr>
          <p:nvPr/>
        </p:nvSpPr>
        <p:spPr>
          <a:xfrm>
            <a:off x="2715220" y="28135"/>
            <a:ext cx="6761557" cy="1759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2000" b="1" dirty="0" smtClean="0"/>
          </a:p>
          <a:p>
            <a:r>
              <a:rPr lang="pt-BR" sz="2000" b="1" dirty="0" smtClean="0"/>
              <a:t>UEM</a:t>
            </a:r>
            <a:endParaRPr lang="pt-BR" sz="2000" b="1" dirty="0"/>
          </a:p>
          <a:p>
            <a:r>
              <a:rPr lang="pt-BR" sz="2000" b="1" dirty="0" smtClean="0"/>
              <a:t>ARQUITETURA E ORGANIZAÇÃO DE COMPUTADORES</a:t>
            </a:r>
            <a:endParaRPr lang="pt-BR" sz="2000" b="1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532" y="5478355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65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Arquitetura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São os atributos visíveis ao programador</a:t>
            </a:r>
          </a:p>
          <a:p>
            <a:pPr lvl="2"/>
            <a:r>
              <a:rPr lang="pt-BR" dirty="0" smtClean="0">
                <a:solidFill>
                  <a:srgbClr val="00B0F0"/>
                </a:solidFill>
              </a:rPr>
              <a:t>Conjunto de instruções, número de bits usados para a representação de dados, mecanismos para realizada de E/S, técnicas de endereçamento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Exemplo: Existe uma instrução de multiplicação?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Organização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É como os recursos são implementados</a:t>
            </a:r>
          </a:p>
          <a:p>
            <a:pPr lvl="2"/>
            <a:r>
              <a:rPr lang="pt-BR" dirty="0" smtClean="0">
                <a:solidFill>
                  <a:srgbClr val="00B0F0"/>
                </a:solidFill>
              </a:rPr>
              <a:t>Sinais de controle internos, tecnologia usada na memória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83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Decisão de Projeto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Decisões tomadas pelos projetistas em relação a arquitetura e organização do computador que podem influenciar o programador</a:t>
            </a:r>
          </a:p>
          <a:p>
            <a:pPr lvl="1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pt-BR" dirty="0" smtClean="0"/>
              <a:t>Exemplo de questão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Ter ou não ter uma instrução de multiplicação?</a:t>
            </a:r>
          </a:p>
          <a:p>
            <a:pPr lvl="1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Essa decisão deve ser tomada de acordo com:</a:t>
            </a:r>
          </a:p>
          <a:p>
            <a:pPr lvl="2"/>
            <a:r>
              <a:rPr lang="pt-BR" dirty="0" smtClean="0">
                <a:solidFill>
                  <a:srgbClr val="00B0F0"/>
                </a:solidFill>
              </a:rPr>
              <a:t>A frequência do uso da instrução</a:t>
            </a:r>
          </a:p>
          <a:p>
            <a:pPr lvl="2"/>
            <a:r>
              <a:rPr lang="pt-BR" dirty="0" smtClean="0">
                <a:solidFill>
                  <a:srgbClr val="00B0F0"/>
                </a:solidFill>
              </a:rPr>
              <a:t>Velocidade relativa das duas técnicas</a:t>
            </a:r>
          </a:p>
          <a:p>
            <a:pPr lvl="2"/>
            <a:r>
              <a:rPr lang="pt-BR" dirty="0" smtClean="0">
                <a:solidFill>
                  <a:srgbClr val="00B0F0"/>
                </a:solidFill>
              </a:rPr>
              <a:t>Custo e tamanho de uma unidade de multiplicação especial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94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Níveis de um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Existem muitos níveis nos quais um computador pode ser analisado</a:t>
            </a:r>
          </a:p>
          <a:p>
            <a:pPr lvl="1"/>
            <a:r>
              <a:rPr lang="pt-BR" dirty="0" smtClean="0">
                <a:solidFill>
                  <a:srgbClr val="0070C0"/>
                </a:solidFill>
              </a:rPr>
              <a:t>Nível mais alto</a:t>
            </a:r>
          </a:p>
          <a:p>
            <a:pPr lvl="2"/>
            <a:r>
              <a:rPr lang="pt-BR" dirty="0" smtClean="0">
                <a:solidFill>
                  <a:srgbClr val="00B0F0"/>
                </a:solidFill>
              </a:rPr>
              <a:t>O usuário Executa programas</a:t>
            </a:r>
          </a:p>
          <a:p>
            <a:pPr lvl="1"/>
            <a:r>
              <a:rPr lang="pt-BR" dirty="0" smtClean="0">
                <a:solidFill>
                  <a:srgbClr val="0070C0"/>
                </a:solidFill>
              </a:rPr>
              <a:t>Nível mais baixo</a:t>
            </a:r>
          </a:p>
          <a:p>
            <a:pPr lvl="2"/>
            <a:r>
              <a:rPr lang="pt-BR" dirty="0" smtClean="0">
                <a:solidFill>
                  <a:srgbClr val="00B0F0"/>
                </a:solidFill>
              </a:rPr>
              <a:t>Consiste de transistores e fio</a:t>
            </a:r>
          </a:p>
          <a:p>
            <a:pPr lvl="2"/>
            <a:endParaRPr lang="pt-BR" dirty="0" smtClean="0">
              <a:solidFill>
                <a:srgbClr val="00B0F0"/>
              </a:solidFill>
            </a:endParaRPr>
          </a:p>
          <a:p>
            <a:r>
              <a:rPr lang="pt-BR" dirty="0" smtClean="0"/>
              <a:t>O número exato de níveis é discutível</a:t>
            </a:r>
          </a:p>
          <a:p>
            <a:endParaRPr lang="pt-BR" dirty="0"/>
          </a:p>
          <a:p>
            <a:pPr algn="just"/>
            <a:r>
              <a:rPr lang="pt-BR" dirty="0" smtClean="0"/>
              <a:t>Descendo a partir do nível mais alto, os níveis se tornam menos abstratos e mais da estrutura interna do computador se torna </a:t>
            </a:r>
            <a:br>
              <a:rPr lang="pt-BR" dirty="0" smtClean="0"/>
            </a:br>
            <a:r>
              <a:rPr lang="pt-BR" dirty="0" smtClean="0"/>
              <a:t>visível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54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Níveis de um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490" y="1808919"/>
            <a:ext cx="8211020" cy="358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5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x Estrutura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Função é a operação individual de cada componente como parte da estrutura. De modo geral, as funções de um computador são: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Processamento de dados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Armazenamento de dados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Movimentação de dados</a:t>
            </a:r>
          </a:p>
          <a:p>
            <a:pPr lvl="1" algn="just"/>
            <a:r>
              <a:rPr lang="pt-BR" dirty="0" smtClean="0">
                <a:solidFill>
                  <a:srgbClr val="0070C0"/>
                </a:solidFill>
              </a:rPr>
              <a:t>Controle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Estrutura é o modo como os componentes são inter-relacionados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13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Básica do Computador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089" y="1832620"/>
            <a:ext cx="8060686" cy="368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2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– Alto Nível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021" y="1966972"/>
            <a:ext cx="6000658" cy="341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– CPU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157" y="2062162"/>
            <a:ext cx="6186411" cy="345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46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Estrutura – Unidade de Controle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110" y="1816686"/>
            <a:ext cx="6486480" cy="371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Lei de Moore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É uma lei que proporciona uma base aos projetistas de arquiteturas de computadores</a:t>
            </a:r>
          </a:p>
          <a:p>
            <a:pPr algn="just"/>
            <a:endParaRPr lang="pt-BR" dirty="0"/>
          </a:p>
          <a:p>
            <a:pPr algn="just"/>
            <a:r>
              <a:rPr lang="pt-BR" b="1" dirty="0" smtClean="0"/>
              <a:t>A lei:</a:t>
            </a:r>
            <a:endParaRPr lang="pt-BR" dirty="0" smtClean="0"/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1ª Forma de Compreensão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O poder computacional que se compra pelo mesmo preço dobra a cada 18 meses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2ª Forma de Compreensão </a:t>
            </a:r>
          </a:p>
          <a:p>
            <a:pPr lvl="2" algn="just"/>
            <a:r>
              <a:rPr lang="pt-BR" dirty="0" smtClean="0">
                <a:solidFill>
                  <a:srgbClr val="00B0F0"/>
                </a:solidFill>
              </a:rPr>
              <a:t>O número de transistores em um chip dobrará a cada 18 meses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7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Lei de Moore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Curiosidade</a:t>
            </a:r>
            <a:endParaRPr lang="pt-BR" dirty="0" smtClean="0">
              <a:solidFill>
                <a:srgbClr val="00B0F0"/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info.abril.com.br/noticias/rede/mundotec/files/2013/07/Post_5_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83" y="1595190"/>
            <a:ext cx="7010354" cy="4708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91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Lei de Moore - Exemplo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Planeja-se desenvolver uma inovação arquitetural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benefício esperado é “quadruplicar o desempenho”</a:t>
            </a:r>
          </a:p>
          <a:p>
            <a:pPr lvl="1" algn="just"/>
            <a:endParaRPr lang="pt-BR" dirty="0">
              <a:solidFill>
                <a:srgbClr val="00B0F0"/>
              </a:solidFill>
            </a:endParaRPr>
          </a:p>
          <a:p>
            <a:pPr algn="just"/>
            <a:r>
              <a:rPr lang="pt-BR" dirty="0" smtClean="0"/>
              <a:t>Porém, esse projeto pode levar até três anos para terminar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As arquiteturas existentes três anos depois podem de qualquer forma oferecer o quádruplo do desempenho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As arquiteturas existentes podem ser completamente diferentes do que a inovação necessita para funcionar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38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Balanço no Desempenho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Existe um aumento na velocidade do processador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Existe um aumento na capacidade de memória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Porém, a velocidade da memória fica para trás da velocidade do processador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Necessidade de procurar um equilíbrio no desempenho dos componentes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Ajustes na arquitetura e organização para compensar as diferenças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14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Diferença de Desempenho entre Lógica e Memória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Maior diferença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Processador x Memória Principal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A interface entre os dois componentes é muito crítica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Necessidade constante de comunicação para o transporte de dados e instruções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Uma das soluções 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Memória Cache!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Mas deixaremos isso para outra aula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3672681"/>
            <a:ext cx="5600700" cy="28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299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Grande Questão de 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 taxa em que o desempenho dos componentes do computador está mudando (processador, barramentos, memória, periféricos) difere muito de um para outro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Cada um precisa ser fabricado com uma tecnologia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Possuem uma frequência limitada por esta tecnologia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7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 da Computação - ENIAC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b="1" dirty="0" err="1" smtClean="0"/>
              <a:t>E</a:t>
            </a:r>
            <a:r>
              <a:rPr lang="pt-BR" dirty="0" err="1" smtClean="0"/>
              <a:t>lectronic</a:t>
            </a:r>
            <a:r>
              <a:rPr lang="pt-BR" dirty="0" smtClean="0"/>
              <a:t> </a:t>
            </a:r>
            <a:r>
              <a:rPr lang="pt-BR" b="1" dirty="0" err="1" smtClean="0"/>
              <a:t>N</a:t>
            </a:r>
            <a:r>
              <a:rPr lang="pt-BR" dirty="0" err="1" smtClean="0"/>
              <a:t>umerical</a:t>
            </a:r>
            <a:r>
              <a:rPr lang="pt-BR" dirty="0" smtClean="0"/>
              <a:t> </a:t>
            </a:r>
            <a:r>
              <a:rPr lang="pt-BR" b="1" dirty="0" err="1" smtClean="0"/>
              <a:t>I</a:t>
            </a:r>
            <a:r>
              <a:rPr lang="pt-BR" dirty="0" err="1" smtClean="0"/>
              <a:t>ntegrator</a:t>
            </a:r>
            <a:r>
              <a:rPr lang="pt-BR" dirty="0" smtClean="0"/>
              <a:t> </a:t>
            </a:r>
            <a:r>
              <a:rPr lang="pt-BR" b="1" dirty="0" err="1" smtClean="0"/>
              <a:t>A</a:t>
            </a:r>
            <a:r>
              <a:rPr lang="pt-BR" dirty="0" err="1" smtClean="0"/>
              <a:t>nd</a:t>
            </a:r>
            <a:r>
              <a:rPr lang="pt-BR" dirty="0" smtClean="0"/>
              <a:t> </a:t>
            </a:r>
            <a:r>
              <a:rPr lang="pt-BR" b="1" dirty="0" smtClean="0"/>
              <a:t>C</a:t>
            </a:r>
            <a:r>
              <a:rPr lang="pt-BR" dirty="0" smtClean="0"/>
              <a:t>omputer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Desenvolvido por John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Eckert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e John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Mauchly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da Universidade da Pensilvânia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Surgimento na Segunda Guerra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Computar trajetórias táticas que exigissem conhecimento substancial em matemática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Iniciou em 1943, porém só terminou em 1946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Muito tarde para ser utilizado na guerra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Foi usado até 1955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11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 da Computação – ENIAC (Dados Técnicos)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Era composto por 70000 resistores e quase 18000 válvulas</a:t>
            </a:r>
          </a:p>
          <a:p>
            <a:pPr algn="just"/>
            <a:r>
              <a:rPr lang="pt-BR" dirty="0" smtClean="0"/>
              <a:t>Pesava 30 toneladas</a:t>
            </a:r>
          </a:p>
          <a:p>
            <a:pPr algn="just"/>
            <a:r>
              <a:rPr lang="pt-BR" dirty="0" smtClean="0"/>
              <a:t>Ocupava uma área de 180 m²</a:t>
            </a:r>
          </a:p>
          <a:p>
            <a:pPr algn="just"/>
            <a:r>
              <a:rPr lang="pt-BR" dirty="0" smtClean="0"/>
              <a:t>Possuía 140kW de consumo de potência</a:t>
            </a:r>
          </a:p>
          <a:p>
            <a:pPr algn="just"/>
            <a:r>
              <a:rPr lang="pt-BR" dirty="0" smtClean="0"/>
              <a:t>Realizava 5000 operações por segundo</a:t>
            </a:r>
          </a:p>
          <a:p>
            <a:pPr algn="just"/>
            <a:r>
              <a:rPr lang="pt-BR" dirty="0" smtClean="0"/>
              <a:t>A escolha das operações era feita manualmente por chaves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97" y="5142540"/>
            <a:ext cx="7118506" cy="74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7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Histórico da Computação – ENIAC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Como era o ENIAC</a:t>
            </a:r>
          </a:p>
          <a:p>
            <a:pPr lvl="1" algn="just"/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19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ds.haverford.edu/bitbybit/wp-content/uploads/2012/07/Chapter_4-12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82" y="1808956"/>
            <a:ext cx="8967787" cy="452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512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Os Transistores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Substituíram as válvulas e foram inventados em 1947 na Bell </a:t>
            </a:r>
            <a:r>
              <a:rPr lang="pt-BR" dirty="0" err="1" smtClean="0"/>
              <a:t>Labs</a:t>
            </a:r>
            <a:r>
              <a:rPr lang="pt-BR" dirty="0" smtClean="0"/>
              <a:t> por William Shockley e outros.</a:t>
            </a:r>
          </a:p>
          <a:p>
            <a:pPr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Eles são: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Menores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Mais baratos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Dissipam menos calor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Feitos de silício (segundo elemento mais abundante na Terra)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Mudou a história da computação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9" descr="https://digartmedia.files.wordpress.com/2010/03/hard-08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212" y="1960503"/>
            <a:ext cx="3519488" cy="276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805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Von Neumann e Alan Turing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Criaram o conceito de programa armazenado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Antes os programas e os dados de entrada eram colocados em cartões perfurados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As saídas eram escritas em fitas e precisavam ser interpretadas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Ideias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Um tipo de memória armazenando programas e dados; 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Um mecanismos interpretando e executando as instruções da memória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Surgimento do </a:t>
            </a:r>
            <a:r>
              <a:rPr lang="pt-BR" u="sng" dirty="0" smtClean="0"/>
              <a:t>Modelo de Von Neumann</a:t>
            </a:r>
            <a:r>
              <a:rPr lang="pt-BR" dirty="0" smtClean="0"/>
              <a:t>!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73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Modelo de Von Neumann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modelo de Von Neumann possui três componentes principais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1)</a:t>
            </a: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 Unidade de Entrada e Saída</a:t>
            </a:r>
          </a:p>
          <a:p>
            <a:pPr lvl="1" algn="just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2) Unidade Central de Processamento (CPU)</a:t>
            </a:r>
          </a:p>
          <a:p>
            <a:pPr lvl="2" algn="just"/>
            <a:r>
              <a:rPr lang="pt-BR" dirty="0">
                <a:solidFill>
                  <a:srgbClr val="00B0F0"/>
                </a:solidFill>
              </a:rPr>
              <a:t>Unidade de Controle (UC) + Unidade Lógica e Aritmética (ULA)</a:t>
            </a:r>
          </a:p>
          <a:p>
            <a:pPr lvl="1" algn="just"/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3) Unidade de Memória Principal</a:t>
            </a:r>
          </a:p>
          <a:p>
            <a:pPr lvl="1" algn="just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informatica.iessanclemente.net/manuais/images/4/48/Modelo-von-neuman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4" t="8594" r="1958" b="12207"/>
          <a:stretch>
            <a:fillRect/>
          </a:stretch>
        </p:blipFill>
        <p:spPr bwMode="auto">
          <a:xfrm>
            <a:off x="3319463" y="3672681"/>
            <a:ext cx="5832475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40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Modelo de Barramento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Refinamento do Modelo de Von Neumann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Mostra a comunicação entre os componentes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Realizada através de um caminho compartilhado chamado barramento de sistema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2" y="3565526"/>
            <a:ext cx="6480175" cy="261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507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Computador e o Modelo de Von Neumann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Como é?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web.letras.up.pt/vpereira/tic/images/Comp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00" y="1423194"/>
            <a:ext cx="7937500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313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Processador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É o conjunto da: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Unidade Lógica Aritmética (ULA);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Registradores; e 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Unidade de Controle (UC)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Sua função é executar os programas armazenados na memória principal, buscando instruções, examinando-as e então executando uma após a outra.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0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Processador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Processador é responsável por: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Buscar instruções e dados na memória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Decodificar as instruções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Realizar as operações lógicas e aritméticas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Programar a transferência de dados entre a memória e os dispositivos de entrada/saída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Responder a sinais enviados por dispositivos de entrada/saída como interrupções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059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Processador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Core-i7-4960X versus AMD FX-9590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27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wimages.vr-zone.net/2013/09/IMG_508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806" y="2101532"/>
            <a:ext cx="5753100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691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O processador contém elementos de memória, de </a:t>
            </a:r>
            <a:r>
              <a:rPr lang="pt-BR" b="1" dirty="0" smtClean="0"/>
              <a:t>pequena capacidade </a:t>
            </a:r>
            <a:r>
              <a:rPr lang="pt-BR" dirty="0" smtClean="0"/>
              <a:t>mas de </a:t>
            </a:r>
            <a:r>
              <a:rPr lang="pt-BR" b="1" dirty="0" smtClean="0"/>
              <a:t>alta velocidade</a:t>
            </a:r>
            <a:r>
              <a:rPr lang="pt-BR" dirty="0" smtClean="0"/>
              <a:t>, usados para armazenar resultados temporários, chamados </a:t>
            </a:r>
            <a:r>
              <a:rPr lang="pt-BR" b="1" dirty="0" smtClean="0"/>
              <a:t>registradores</a:t>
            </a:r>
            <a:endParaRPr lang="pt-BR" dirty="0" smtClean="0"/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O conjunto desses registradores é denominado banco de registradores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Os registradores são referenciados explicitamente pelas instruções lógicas, aritméticas e de transferência de dados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28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46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Registradores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Existe um registrador especial denominado </a:t>
            </a:r>
            <a:r>
              <a:rPr lang="pt-BR" b="1" dirty="0" smtClean="0"/>
              <a:t>Contador de Programa (PC)</a:t>
            </a:r>
            <a:r>
              <a:rPr lang="pt-BR" dirty="0" smtClean="0"/>
              <a:t>, que contém o endereço da próxima </a:t>
            </a:r>
            <a:r>
              <a:rPr lang="pt-BR" dirty="0" smtClean="0"/>
              <a:t>instrução </a:t>
            </a:r>
            <a:r>
              <a:rPr lang="pt-BR" dirty="0" smtClean="0"/>
              <a:t>a ser executada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Existe um registrador invisível ao programador, chamado </a:t>
            </a:r>
            <a:r>
              <a:rPr lang="pt-BR" b="1" dirty="0" smtClean="0"/>
              <a:t>Registrador de Instrução (IR)</a:t>
            </a:r>
            <a:r>
              <a:rPr lang="pt-BR" dirty="0" smtClean="0"/>
              <a:t>, que contém a instrução que está sendo executada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29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731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Memória Principal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Função: 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Armazenar informações que serão manipuladas por um sistema de computação para que possam ser recuperadas prontamente quando necessárias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A unidade de memória é formada pela: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Memória Volátil (RAM – </a:t>
            </a:r>
            <a:r>
              <a:rPr lang="pt-BR" i="1" dirty="0" err="1" smtClean="0">
                <a:solidFill>
                  <a:schemeClr val="accent1">
                    <a:lumMod val="75000"/>
                  </a:schemeClr>
                </a:solidFill>
              </a:rPr>
              <a:t>Random</a:t>
            </a:r>
            <a:r>
              <a:rPr lang="pt-BR" i="1" dirty="0" smtClean="0">
                <a:solidFill>
                  <a:schemeClr val="accent1">
                    <a:lumMod val="75000"/>
                  </a:schemeClr>
                </a:solidFill>
              </a:rPr>
              <a:t> Access </a:t>
            </a:r>
            <a:r>
              <a:rPr lang="pt-BR" i="1" dirty="0" err="1" smtClean="0">
                <a:solidFill>
                  <a:schemeClr val="accent1">
                    <a:lumMod val="75000"/>
                  </a:schemeClr>
                </a:solidFill>
              </a:rPr>
              <a:t>Memory</a:t>
            </a:r>
            <a:r>
              <a:rPr lang="pt-BR" i="1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Memória Não Volátil (ROM –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Read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Only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pt-BR" dirty="0" err="1" smtClean="0">
                <a:solidFill>
                  <a:schemeClr val="accent1">
                    <a:lumMod val="75000"/>
                  </a:schemeClr>
                </a:solidFill>
              </a:rPr>
              <a:t>Memory</a:t>
            </a:r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30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52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Memória Principal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Memória Volátil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As informações armazenadas podem ser alteradas durante a execução de um programa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Usadas para armazenar os resultados intermediários e finais das operações realizadas pelo processador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Memória Não Volátil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Armazenar informações que não necessitam ser alteradas no decorrer do processamento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Utilizada para iniciar o funcionamento do computador, realizando os testes iniciais e cópia do sistema operacional para a memória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31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14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Memória Principal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Exemplos: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32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www.metropoledigital.ufrn.br/aulas/disciplinas/sist_operacional/imagens/Aula11_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006" y="1530350"/>
            <a:ext cx="5600700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199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Memória Principal - Estrutura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A memória contém palavras de N bits cada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A palavra é a unidade básica de transferência entre a CPU e a memória</a:t>
            </a:r>
          </a:p>
          <a:p>
            <a:pPr lvl="1" algn="just"/>
            <a:endParaRPr lang="pt-BR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pt-BR" dirty="0" smtClean="0"/>
              <a:t>Uma memória com 2</a:t>
            </a:r>
            <a:r>
              <a:rPr lang="pt-BR" baseline="30000" dirty="0" smtClean="0"/>
              <a:t>m</a:t>
            </a:r>
            <a:r>
              <a:rPr lang="pt-BR" dirty="0" smtClean="0"/>
              <a:t> palavras necessita de M bit de endereço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33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506" y="3329781"/>
            <a:ext cx="5429250" cy="300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340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Hierarquia de Memórias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Como fica?</a:t>
            </a:r>
          </a:p>
          <a:p>
            <a:pPr lvl="1"/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34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96" y="1889533"/>
            <a:ext cx="9518501" cy="374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6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Entrada/Saída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Contém os circuitos de interface necessários para prover a comunicação entre os dispositivos de ENTRADA e SAÍDA e as demais partes do computador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Toda informação é convertida de/para o formato binário pela unidade de entrada/saída</a:t>
            </a:r>
          </a:p>
          <a:p>
            <a:pPr lvl="1" algn="just"/>
            <a:endParaRPr lang="pt-BR" dirty="0"/>
          </a:p>
          <a:p>
            <a:pPr algn="just"/>
            <a:r>
              <a:rPr lang="pt-BR" dirty="0" smtClean="0"/>
              <a:t>Exemplos de dispositivos de entrada/saída são: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Disco Rígido (HD)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Teclado e Mouse</a:t>
            </a:r>
          </a:p>
          <a:p>
            <a:pPr lvl="1" algn="just"/>
            <a:r>
              <a:rPr lang="pt-BR" dirty="0" smtClean="0">
                <a:solidFill>
                  <a:schemeClr val="accent1">
                    <a:lumMod val="75000"/>
                  </a:schemeClr>
                </a:solidFill>
              </a:rPr>
              <a:t>Monitor</a:t>
            </a:r>
          </a:p>
          <a:p>
            <a:pPr marL="457200" lvl="1" indent="0">
              <a:buNone/>
            </a:pPr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35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87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7D28D7-7AAE-448A-BCE5-20CBDF8C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Entrada/Saída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22013D63-19EF-4480-8682-EAD130FD9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 smtClean="0"/>
              <a:t>Taxa de dados por periférico</a:t>
            </a:r>
            <a:endParaRPr lang="pt-BR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457200" lvl="1" indent="0">
              <a:buNone/>
            </a:pPr>
            <a:endParaRPr lang="pt-BR" dirty="0" smtClean="0"/>
          </a:p>
          <a:p>
            <a:pPr lvl="1"/>
            <a:endParaRPr lang="pt-BR" dirty="0" smtClean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103C2C90-3353-4A5A-B040-029B8032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smtClean="0"/>
              <a:t>Arquitetura e Organização de Computadores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A2C7CDE-85C0-4328-8315-416D513F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B6521-5767-44C1-B935-036EFCA3B4E2}" type="slidenum">
              <a:rPr lang="pt-BR" smtClean="0"/>
              <a:t>36</a:t>
            </a:fld>
            <a:endParaRPr lang="pt-BR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9419" y="5516442"/>
            <a:ext cx="2034931" cy="9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983" y="1854064"/>
            <a:ext cx="7949786" cy="447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53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="" xmlns:a16="http://schemas.microsoft.com/office/drawing/2014/main" id="{B68B67C0-84A0-4EE8-8F3B-2111EEE8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82" y="2731721"/>
            <a:ext cx="4036572" cy="167121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pt-BR" sz="7200" smtClean="0">
                <a:solidFill>
                  <a:srgbClr val="002060"/>
                </a:solidFill>
              </a:rPr>
              <a:t>Dúvidas?</a:t>
            </a:r>
            <a:endParaRPr lang="pt-BR" sz="72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9AE4586E-792C-45FA-9D45-E8551058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5"/>
            <a:ext cx="11696700" cy="365125"/>
          </a:xfrm>
        </p:spPr>
        <p:txBody>
          <a:bodyPr/>
          <a:lstStyle/>
          <a:p>
            <a:r>
              <a:rPr lang="pt-BR" dirty="0"/>
              <a:t>Arquitetura e Organização de Computadores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1F1A3EB8-AB58-4E9C-AFF1-F419E5DD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6700" y="6492875"/>
            <a:ext cx="495300" cy="365125"/>
          </a:xfrm>
        </p:spPr>
        <p:txBody>
          <a:bodyPr/>
          <a:lstStyle/>
          <a:p>
            <a:fld id="{DBDB6521-5767-44C1-B935-036EFCA3B4E2}" type="slidenum">
              <a:rPr lang="pt-BR" smtClean="0"/>
              <a:t>37</a:t>
            </a:fld>
            <a:endParaRPr lang="pt-BR" dirty="0"/>
          </a:p>
        </p:txBody>
      </p:sp>
      <p:pic>
        <p:nvPicPr>
          <p:cNvPr id="7" name="Picture 4" descr="Resultado de imagem para grupo manna u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2971" y="2816785"/>
            <a:ext cx="3327239" cy="158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50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4837</TotalTime>
  <Words>1451</Words>
  <Application>Microsoft Office PowerPoint</Application>
  <PresentationFormat>Widescreen</PresentationFormat>
  <Paragraphs>277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0" baseType="lpstr">
      <vt:lpstr>Arial</vt:lpstr>
      <vt:lpstr>Calibri</vt:lpstr>
      <vt:lpstr>Tema do Office</vt:lpstr>
      <vt:lpstr>Introdução à Arquitetura e Organização de Computadores</vt:lpstr>
      <vt:lpstr>Introdução</vt:lpstr>
      <vt:lpstr>Introdução</vt:lpstr>
      <vt:lpstr>Níveis de um Computador</vt:lpstr>
      <vt:lpstr>Níveis de um Computador</vt:lpstr>
      <vt:lpstr>Função x Estrutura</vt:lpstr>
      <vt:lpstr>Função Básica do Computador</vt:lpstr>
      <vt:lpstr>Estrutura – Alto Nível</vt:lpstr>
      <vt:lpstr>Estrutura – CPU</vt:lpstr>
      <vt:lpstr>Estrutura – Unidade de Controle</vt:lpstr>
      <vt:lpstr>A Lei de Moore</vt:lpstr>
      <vt:lpstr>A Lei de Moore</vt:lpstr>
      <vt:lpstr>A Lei de Moore - Exemplo</vt:lpstr>
      <vt:lpstr>Balanço no Desempenho</vt:lpstr>
      <vt:lpstr>Diferença de Desempenho entre Lógica e Memória</vt:lpstr>
      <vt:lpstr>A Grande Questão de Projeto</vt:lpstr>
      <vt:lpstr>Histórico da Computação - ENIAC</vt:lpstr>
      <vt:lpstr>Histórico da Computação – ENIAC (Dados Técnicos)</vt:lpstr>
      <vt:lpstr>Histórico da Computação – ENIAC</vt:lpstr>
      <vt:lpstr>Os Transistores</vt:lpstr>
      <vt:lpstr>Von Neumann e Alan Turing</vt:lpstr>
      <vt:lpstr>O Modelo de Von Neumann</vt:lpstr>
      <vt:lpstr>O Modelo de Barramento</vt:lpstr>
      <vt:lpstr>Computador e o Modelo de Von Neumann</vt:lpstr>
      <vt:lpstr>O Processador</vt:lpstr>
      <vt:lpstr>O Processador</vt:lpstr>
      <vt:lpstr>O Processador</vt:lpstr>
      <vt:lpstr>Registradores</vt:lpstr>
      <vt:lpstr>Registradores</vt:lpstr>
      <vt:lpstr>Memória Principal</vt:lpstr>
      <vt:lpstr>Memória Principal</vt:lpstr>
      <vt:lpstr>Memória Principal</vt:lpstr>
      <vt:lpstr>Memória Principal - Estrutura</vt:lpstr>
      <vt:lpstr>Hierarquia de Memórias</vt:lpstr>
      <vt:lpstr>Entrada/Saída</vt:lpstr>
      <vt:lpstr>Entrada/Saída</vt:lpstr>
      <vt:lpstr>Dúvidas?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Assistive Haptic System Towards Visually Impaired Computer Science Learning</dc:title>
  <dc:creator>Alisson Renan Svaigen</dc:creator>
  <cp:lastModifiedBy>Felippe Fernandes da Silva</cp:lastModifiedBy>
  <cp:revision>431</cp:revision>
  <dcterms:created xsi:type="dcterms:W3CDTF">2018-05-19T12:58:17Z</dcterms:created>
  <dcterms:modified xsi:type="dcterms:W3CDTF">2022-01-22T00:08:28Z</dcterms:modified>
</cp:coreProperties>
</file>