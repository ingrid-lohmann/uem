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45" r:id="rId14"/>
    <p:sldId id="418" r:id="rId15"/>
    <p:sldId id="419" r:id="rId16"/>
    <p:sldId id="420" r:id="rId17"/>
    <p:sldId id="421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429" r:id="rId26"/>
    <p:sldId id="431" r:id="rId27"/>
    <p:sldId id="432" r:id="rId28"/>
    <p:sldId id="434" r:id="rId29"/>
    <p:sldId id="435" r:id="rId30"/>
    <p:sldId id="439" r:id="rId31"/>
    <p:sldId id="440" r:id="rId32"/>
    <p:sldId id="441" r:id="rId33"/>
    <p:sldId id="442" r:id="rId34"/>
    <p:sldId id="443" r:id="rId35"/>
    <p:sldId id="444" r:id="rId36"/>
    <p:sldId id="357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71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02/02/2022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Aritm</a:t>
            </a:r>
            <a:r>
              <a:rPr lang="pt-BR" sz="4600" dirty="0" smtClean="0"/>
              <a:t>ética Computacional de Inteiros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xmlns="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Unidade Lógica e Aritmética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Vem do inglês ALU (</a:t>
            </a:r>
            <a:r>
              <a:rPr lang="pt-BR" dirty="0" err="1" smtClean="0"/>
              <a:t>Arithmetic</a:t>
            </a:r>
            <a:r>
              <a:rPr lang="pt-BR" dirty="0" smtClean="0"/>
              <a:t> </a:t>
            </a:r>
            <a:r>
              <a:rPr lang="pt-BR" dirty="0" err="1" smtClean="0"/>
              <a:t>Logic</a:t>
            </a:r>
            <a:r>
              <a:rPr lang="pt-BR" dirty="0" smtClean="0"/>
              <a:t> Unit)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É a parte do computador que de fato executa as operações sobre os dados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Todos os outros elementos do computador são usados para: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Trazer os dados a serem processados pela ULA; e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Receber os resultados das operações efetuadas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Constitui o núcleo ou a essência do computador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Unidade Lógica e Aritmética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É baseada em dispositivos lógicos capazes de efetuar operações de lógica booleana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Os dados são fornecidos à ULA em registradores e os resultados de uma operação são armazenados também em registradores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ULA também pode ativar bits especiais (como registradores de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flags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 para indicar o resultado de uma operação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76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Unidade Lógica e Aritmética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443" y="2250281"/>
            <a:ext cx="7489825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53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Unidade Lógica e Aritmética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aritmética computacional opera com dois tipos de números muito diferentes (em termos computacionais):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Números inteiros; 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Números de ponto flutuante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Em ambos os casos, a escolha da representação é uma questão crucial de projeto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1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no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No sistema de numeração binária também é possível representar números usando virgulas e sinais</a:t>
            </a:r>
          </a:p>
          <a:p>
            <a:pPr lvl="1" algn="just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-1101,101</a:t>
            </a:r>
            <a:r>
              <a:rPr lang="pt-BR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= -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13,5</a:t>
            </a:r>
            <a:r>
              <a:rPr lang="pt-BR" baseline="-25000" dirty="0" smtClean="0">
                <a:solidFill>
                  <a:schemeClr val="accent1">
                    <a:lumMod val="75000"/>
                  </a:schemeClr>
                </a:solidFill>
              </a:rPr>
              <a:t>10</a:t>
            </a:r>
          </a:p>
          <a:p>
            <a:pPr lvl="1" algn="just"/>
            <a:endParaRPr lang="pt-BR" baseline="-250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Mas aqui temos um problema! 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Para armazenar números no computador, não é possível usar os sinais de menos e vírgula.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Apenas os dígitos binários (0 e 1) podem ser usados</a:t>
            </a:r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endParaRPr lang="pt-BR" baseline="-25000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85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Representação sinal-magnitude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Utiliza o bit mais significativo da palavra como um bit de sinal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Se o bit mais significativo for 0, o número será positivo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Se for 1, o número será negativo</a:t>
            </a:r>
            <a:endParaRPr lang="pt-BR" dirty="0">
              <a:solidFill>
                <a:srgbClr val="00B0F0"/>
              </a:solidFill>
            </a:endParaRP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É a forma mais simples de representação</a:t>
            </a:r>
            <a:endParaRPr lang="pt-BR" dirty="0"/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931" y="4436208"/>
            <a:ext cx="2736850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55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Algumas desvantagens dessa forma de representação: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Em operação de adição ou subtração é preciso considerar: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A magnitude do número; e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O sinal dos dois operandos</a:t>
            </a:r>
          </a:p>
          <a:p>
            <a:pPr lvl="2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Em duas representações de 0:</a:t>
            </a:r>
            <a:endParaRPr lang="pt-BR" dirty="0"/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387" y="4788694"/>
            <a:ext cx="24479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790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Representação em complemento de dois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Também usa o bit mais significativo como bit de sinal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Os números são escritos da seguinte forma:</a:t>
            </a:r>
          </a:p>
          <a:p>
            <a:pPr lvl="1" algn="just"/>
            <a:r>
              <a:rPr lang="pt-BR" b="1" dirty="0" smtClean="0">
                <a:solidFill>
                  <a:schemeClr val="accent1">
                    <a:lumMod val="75000"/>
                  </a:schemeClr>
                </a:solidFill>
              </a:rPr>
              <a:t>Positivos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: Sua magnitude é representada na sua forma binária </a:t>
            </a:r>
            <a:r>
              <a:rPr lang="pt-BR" u="sng" dirty="0" smtClean="0">
                <a:solidFill>
                  <a:schemeClr val="accent1">
                    <a:lumMod val="75000"/>
                  </a:schemeClr>
                </a:solidFill>
              </a:rPr>
              <a:t>direta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, e um bit de sinal 0 é colocado em sua frente</a:t>
            </a:r>
          </a:p>
          <a:p>
            <a:pPr lvl="2" algn="just"/>
            <a:r>
              <a:rPr lang="pt-BR" dirty="0" smtClean="0">
                <a:solidFill>
                  <a:srgbClr val="FF0000"/>
                </a:solidFill>
              </a:rPr>
              <a:t>(bit 0) + o número em binário</a:t>
            </a:r>
            <a:endParaRPr lang="pt-BR" dirty="0">
              <a:solidFill>
                <a:srgbClr val="FF0000"/>
              </a:solidFill>
            </a:endParaRP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456" y="4679730"/>
            <a:ext cx="4093800" cy="44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1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Os números são escritos da seguinte forma:</a:t>
            </a:r>
          </a:p>
          <a:p>
            <a:pPr lvl="1" algn="just"/>
            <a:r>
              <a:rPr lang="pt-BR" b="1" dirty="0" smtClean="0">
                <a:solidFill>
                  <a:schemeClr val="accent1">
                    <a:lumMod val="75000"/>
                  </a:schemeClr>
                </a:solidFill>
              </a:rPr>
              <a:t>Negativos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: Sua magnitude é representada na forma de complemento a 2 (um bit de sinal acaba ficando em sua frente)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1) “invertemos” os bits do número em binário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2) Somamos um ao valor invertido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334" y="3118474"/>
            <a:ext cx="3826044" cy="32089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615" y="3924792"/>
            <a:ext cx="2402934" cy="33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71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zero é tratado como um número positivo</a:t>
            </a:r>
          </a:p>
          <a:p>
            <a:pPr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Só existe uma representação de zero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Realizando o complemento de 2 de zero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É possível representar 2</a:t>
            </a:r>
            <a:r>
              <a:rPr lang="pt-BR" baseline="30000" dirty="0" smtClean="0"/>
              <a:t>n-1</a:t>
            </a:r>
            <a:r>
              <a:rPr lang="pt-BR" dirty="0" smtClean="0"/>
              <a:t> -1 números positivos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É possível representar 2</a:t>
            </a:r>
            <a:r>
              <a:rPr lang="pt-BR" baseline="30000" dirty="0" smtClean="0"/>
              <a:t>n-1</a:t>
            </a:r>
            <a:r>
              <a:rPr lang="pt-BR" dirty="0" smtClean="0"/>
              <a:t> números negativos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067" y="1941513"/>
            <a:ext cx="2449512" cy="1822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32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representação em complemento de dois parece “pouco natural”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Porém, ela torna mais simples a implementação das operações aritméticas mais importantes (adição e subtração)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22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 - Exercício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Escrever os números abaixo na </a:t>
            </a:r>
            <a:r>
              <a:rPr lang="pt-BR" smtClean="0"/>
              <a:t>forma binária </a:t>
            </a:r>
            <a:r>
              <a:rPr lang="pt-BR" dirty="0" smtClean="0"/>
              <a:t>utilizando o método de complemento de dois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687" y="3020510"/>
            <a:ext cx="19526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1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 - Exercício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Escrever os números abaixo na </a:t>
            </a:r>
            <a:r>
              <a:rPr lang="pt-BR" smtClean="0"/>
              <a:t>forma binária </a:t>
            </a:r>
            <a:r>
              <a:rPr lang="pt-BR" dirty="0" smtClean="0"/>
              <a:t>utilizando o método de complemento de dois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714" y="2739177"/>
            <a:ext cx="6490572" cy="239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3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Conversão entre representações com números de bits diferentes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Algumas vezes é desejável converter a representação de um número inteiro com n bits para sua representação com m bits, onde m &gt; n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Na representação sinal-magnitude é bem simples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184" y="3580765"/>
            <a:ext cx="6102160" cy="1200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578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Representação de Números Inteiros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Conversão entre representações com números de bits diferentes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Na representação complemento de dois, é necessário repetir o primeiro bit preenchendo as casas à esquerda necessárias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55" y="3011791"/>
            <a:ext cx="5754523" cy="844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9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Negação de um Número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Na representação sinal-magnitude, basta inverter o valor do bit de sinal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10001100 = </a:t>
            </a:r>
            <a:r>
              <a:rPr lang="pt-BR" b="1" dirty="0" smtClean="0">
                <a:solidFill>
                  <a:schemeClr val="accent1">
                    <a:lumMod val="75000"/>
                  </a:schemeClr>
                </a:solidFill>
              </a:rPr>
              <a:t>Negação: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00001100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Na representação em complemento de dois teríamos que fazer o processo inverso da complementação, porém, temos um “macete”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470" y="4087867"/>
            <a:ext cx="6949059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6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adição é feita efetuando a soma direta dos dois números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Perceba que não precisamos nos preocupar com sinal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57" y="3396876"/>
            <a:ext cx="6417386" cy="1956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122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Adição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Overflow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Essa situação é determinada quando dois números com o mesmo sinal forem somados e o seu resultado: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Tiver sinal oposto.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Tiver maior quantidade de bits.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78"/>
          <a:stretch>
            <a:fillRect/>
          </a:stretch>
        </p:blipFill>
        <p:spPr bwMode="auto">
          <a:xfrm>
            <a:off x="4634929" y="3672681"/>
            <a:ext cx="2426842" cy="19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28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Subtração (com complemento de dois)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Para subtrair um número M de outro S, basta somar o M com a negação de S</a:t>
            </a:r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356" y="2638589"/>
            <a:ext cx="4406592" cy="157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4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Soma/Subtração com Complemento de Dois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88"/>
          <a:stretch>
            <a:fillRect/>
          </a:stretch>
        </p:blipFill>
        <p:spPr bwMode="auto">
          <a:xfrm>
            <a:off x="170362" y="1765738"/>
            <a:ext cx="5558346" cy="47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026" y="2005176"/>
            <a:ext cx="4011858" cy="19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6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- Exercícios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Faça as operações aritméticas abaixo utilizando números binários de 8 bits e complemento de dois</a:t>
            </a:r>
            <a:endParaRPr lang="pt-BR" dirty="0" smtClean="0">
              <a:solidFill>
                <a:srgbClr val="00B0F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72" y="2338058"/>
            <a:ext cx="1860331" cy="207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43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– Multiplicação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É uma operação complexa, seja implementada em hardware ou seja em software</a:t>
            </a:r>
          </a:p>
          <a:p>
            <a:pPr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smtClean="0"/>
              <a:t>Pode ser dividida em multiplicação de: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Números inteiros sem sinal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Números em representação de complemento de dois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Existe uma grande variedade de algoritmos de multiplicação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Cada projeto aplica o algoritmo mais conveniente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Veremos os mais utilizados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703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Multiplicação de Números Inteiros sem Sinal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Forma mais simples de multiplicar</a:t>
            </a:r>
          </a:p>
          <a:p>
            <a:pPr algn="just"/>
            <a:endParaRPr lang="pt-BR" dirty="0">
              <a:solidFill>
                <a:srgbClr val="0070C0"/>
              </a:solidFill>
            </a:endParaRPr>
          </a:p>
          <a:p>
            <a:pPr algn="just"/>
            <a:r>
              <a:rPr lang="pt-BR" dirty="0" smtClean="0"/>
              <a:t>Envolve a geração de produtos parciais, que são facilmente determinados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É a forma natural que fazer multiplicação</a:t>
            </a:r>
          </a:p>
          <a:p>
            <a:pPr lvl="1" algn="just"/>
            <a:endParaRPr lang="pt-BR" dirty="0">
              <a:solidFill>
                <a:srgbClr val="0070C0"/>
              </a:solidFill>
            </a:endParaRPr>
          </a:p>
          <a:p>
            <a:pPr algn="just"/>
            <a:r>
              <a:rPr lang="pt-BR" dirty="0" smtClean="0"/>
              <a:t>O produto total é obtido através da soma dos produtos parciais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OBS: A multiplicação de dois binários de n bits pode gerar um binário de até 2</a:t>
            </a:r>
            <a:r>
              <a:rPr lang="pt-BR" baseline="30000" dirty="0" smtClean="0">
                <a:solidFill>
                  <a:srgbClr val="0070C0"/>
                </a:solidFill>
              </a:rPr>
              <a:t>n+1</a:t>
            </a:r>
            <a:r>
              <a:rPr lang="pt-BR" dirty="0" smtClean="0">
                <a:solidFill>
                  <a:srgbClr val="0070C0"/>
                </a:solidFill>
              </a:rPr>
              <a:t> bits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7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Multiplicação de Números Inteiros sem Sinal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Como realizaríamos a multiplicação de dois binários usualmente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2" y="2139095"/>
            <a:ext cx="4867275" cy="386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85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Multiplicação de Números Inteiros sem Sinal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Exemplo: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428" y="1693331"/>
            <a:ext cx="7467844" cy="430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700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Multiplicação de Números Inteiros sem Sinal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Exemplo: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7" r="18729"/>
          <a:stretch>
            <a:fillRect/>
          </a:stretch>
        </p:blipFill>
        <p:spPr bwMode="auto">
          <a:xfrm>
            <a:off x="3214272" y="1098201"/>
            <a:ext cx="4731549" cy="5331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99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- Exercício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Faça as operações aritméticas abaixo utilizando multiplicação de números binários sem sinal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48" y="2351361"/>
            <a:ext cx="2396977" cy="99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8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Multiplicação com Complemento de Dois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algoritmo visto anteriormente não se aplica para números em complemento de 2</a:t>
            </a:r>
            <a:endParaRPr lang="pt-BR" dirty="0" smtClean="0">
              <a:solidFill>
                <a:srgbClr val="0070C0"/>
              </a:solidFill>
            </a:endParaRP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182" y="2659124"/>
            <a:ext cx="7615237" cy="317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689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- Exercícios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Faça as operações aritméticas abaixo utilizando multiplicação de números binários com complemento de dois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70" y="2256767"/>
            <a:ext cx="2425808" cy="110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21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- Divisão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É bem mais complexa que a multiplicação, embora seja baseada nos mesmos princípios gerais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Veremos apenas para números representados em complemento de dois</a:t>
            </a:r>
          </a:p>
          <a:p>
            <a:pPr lvl="1"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smtClean="0"/>
              <a:t>Novamente temos os registradores A, M e Q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Também envolve repetidas execuções de adição, subtração e deslocamento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89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para a Divisão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1. O registrador A é iniciado em 0</a:t>
            </a:r>
          </a:p>
          <a:p>
            <a:pPr algn="just"/>
            <a:r>
              <a:rPr lang="pt-BR" dirty="0" smtClean="0"/>
              <a:t>2. O divisor é colocado no registrador M e o dividendo no registrador Q (sem considerar o sinal)</a:t>
            </a:r>
          </a:p>
          <a:p>
            <a:pPr algn="just"/>
            <a:r>
              <a:rPr lang="pt-BR" dirty="0" smtClean="0"/>
              <a:t>3. Desloca-se o conteúdo de A e Q um bit à esquerda</a:t>
            </a:r>
          </a:p>
          <a:p>
            <a:pPr algn="just"/>
            <a:r>
              <a:rPr lang="pt-BR" dirty="0" smtClean="0"/>
              <a:t>4. Analisa-se o sinal de M e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possuem o mesmo sinal, faz-se A &lt;- A – M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Senão A &lt;- A + M</a:t>
            </a:r>
          </a:p>
          <a:p>
            <a:pPr algn="just"/>
            <a:r>
              <a:rPr lang="pt-BR" dirty="0" smtClean="0"/>
              <a:t>5. Se o sinal de A se manteve após a operação anterior, faça Q</a:t>
            </a:r>
            <a:r>
              <a:rPr lang="pt-BR" baseline="-25000" dirty="0" smtClean="0"/>
              <a:t>0</a:t>
            </a:r>
            <a:r>
              <a:rPr lang="pt-BR" dirty="0" smtClean="0"/>
              <a:t> = 1; Senão, restaure o valor de A anterior a operação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56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para a Divisão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6. Repita 3 a 5 de acordo com o tamanho da palavra armazenada em Q (quantidade de bits de Q)</a:t>
            </a:r>
          </a:p>
          <a:p>
            <a:pPr algn="just"/>
            <a:r>
              <a:rPr lang="pt-BR" dirty="0" smtClean="0"/>
              <a:t>7. No fim: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resto estará em 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Se o divisor e o dividendo tiverem o mesmo sinal, o quociente estará em Q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Caso contrário, o quociente correto é o complemento de 2 do número armazenado em Q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83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para a Divisão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Exemplo: 7/3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438" y="1673224"/>
            <a:ext cx="6803885" cy="463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8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de Inteiros - Exercícios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Faça as operações aritméticas abaixo utilizando divisão de números binários com complemento de dois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43" y="2220474"/>
            <a:ext cx="2487510" cy="113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8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36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5039</TotalTime>
  <Words>1418</Words>
  <Application>Microsoft Office PowerPoint</Application>
  <PresentationFormat>Widescreen</PresentationFormat>
  <Paragraphs>252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9" baseType="lpstr">
      <vt:lpstr>Arial</vt:lpstr>
      <vt:lpstr>Calibri</vt:lpstr>
      <vt:lpstr>Tema do Office</vt:lpstr>
      <vt:lpstr>Aritmética Computacional de Inteiros</vt:lpstr>
      <vt:lpstr>Unidade Lógica e Aritmética</vt:lpstr>
      <vt:lpstr>Unidade Lógica e Aritmética</vt:lpstr>
      <vt:lpstr>Unidade Lógica e Aritmética</vt:lpstr>
      <vt:lpstr>Unidade Lógica e Aritmética</vt:lpstr>
      <vt:lpstr>Representação de Números no Computador</vt:lpstr>
      <vt:lpstr>Representação de Números Inteiros</vt:lpstr>
      <vt:lpstr>Representação de Números Inteiros</vt:lpstr>
      <vt:lpstr>Representação de Números Inteiros</vt:lpstr>
      <vt:lpstr>Representação de Números Inteiros</vt:lpstr>
      <vt:lpstr>Representação de Números Inteiros</vt:lpstr>
      <vt:lpstr>Representação de Números Inteiros</vt:lpstr>
      <vt:lpstr>Representação de Números Inteiros - Exercício</vt:lpstr>
      <vt:lpstr>Representação de Números Inteiros - Exercício</vt:lpstr>
      <vt:lpstr>Representação de Números Inteiros</vt:lpstr>
      <vt:lpstr>Representação de Números Inteiros</vt:lpstr>
      <vt:lpstr>Negação de um Número</vt:lpstr>
      <vt:lpstr>Adição</vt:lpstr>
      <vt:lpstr>Adição</vt:lpstr>
      <vt:lpstr>Subtração (com complemento de dois)</vt:lpstr>
      <vt:lpstr>Soma/Subtração com Complemento de Dois</vt:lpstr>
      <vt:lpstr>Aritmética de Inteiros - Exercícios</vt:lpstr>
      <vt:lpstr>Aritmética de Inteiros – Multiplicação</vt:lpstr>
      <vt:lpstr>Multiplicação de Números Inteiros sem Sinal</vt:lpstr>
      <vt:lpstr>Multiplicação de Números Inteiros sem Sinal</vt:lpstr>
      <vt:lpstr>Multiplicação de Números Inteiros sem Sinal</vt:lpstr>
      <vt:lpstr>Multiplicação de Números Inteiros sem Sinal</vt:lpstr>
      <vt:lpstr>Aritmética de Inteiros - Exercício</vt:lpstr>
      <vt:lpstr>Multiplicação com Complemento de Dois</vt:lpstr>
      <vt:lpstr>Aritmética de Inteiros - Exercícios</vt:lpstr>
      <vt:lpstr>Aritmética de Inteiros - Divisão</vt:lpstr>
      <vt:lpstr>Algoritmo para a Divisão</vt:lpstr>
      <vt:lpstr>Algoritmo para a Divisão</vt:lpstr>
      <vt:lpstr>Algoritmo para a Divisão</vt:lpstr>
      <vt:lpstr>Aritmética de Inteiros - Exercícios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504</cp:revision>
  <dcterms:created xsi:type="dcterms:W3CDTF">2018-05-19T12:58:17Z</dcterms:created>
  <dcterms:modified xsi:type="dcterms:W3CDTF">2022-02-02T22:48:56Z</dcterms:modified>
</cp:coreProperties>
</file>