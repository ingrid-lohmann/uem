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357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17/02/2022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Conjuntos de Instruções – Endereçamento e Formato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="" xmlns:a16="http://schemas.microsoft.com/office/drawing/2014/main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Modos de Endereçamento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Como podemos nos referir a um operando em uma instrução?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Imediato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Direto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Indireto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Registradores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Indireto por registradores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Deslocamento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Pilha</a:t>
            </a:r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Imediato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O operando é parte da instrução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Operando = campo de endereço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Exemplo: ADD 5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Some 5 ao conteúdo acumulador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5 é operando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Nenhuma referência à memória para buscar dados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Vantagem: Rápido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Desvantagem: Tamanho do operando é limitado pelo tamanho do campo endereço</a:t>
            </a:r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11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Imediato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Estrutura do Endereçamento Imediato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547" y="3092341"/>
            <a:ext cx="3869976" cy="99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1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Direto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/>
              <a:t>Campo de endereço contém endereço do operando</a:t>
            </a:r>
          </a:p>
          <a:p>
            <a:pPr algn="just"/>
            <a:r>
              <a:rPr lang="pt-BR" dirty="0" smtClean="0"/>
              <a:t>Exemplo: ADD 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Some o conteúdo do endereço A ao acumulador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Busca na memória, no endereço A, pelo operando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Vantagens: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Requer apenas um acesso à memória para acessar o dado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Nenhum cálculo adicional é preciso para encontrar EA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Desvantagem: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Espaço de endereçamento limitado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6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Direto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Diagrama do Endereçamento Direto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029" y="2095500"/>
            <a:ext cx="5644554" cy="342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2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Indireto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Célula de memória apontada pelo campo de endereço contém o endereço do (ponteiro para o) operando</a:t>
            </a:r>
          </a:p>
          <a:p>
            <a:pPr algn="just"/>
            <a:r>
              <a:rPr lang="pt-BR" dirty="0" smtClean="0"/>
              <a:t>Endereço Efetivo (EA) = campo de endereço (A)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1. Acesse o endereço A na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2. Acesse o endereço apontado pelo conteúdo de A, denotado [A]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3. Obtenha o operando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Exemplo: ADD [A]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Some o conteúdo da célula apontada pelo conteúdo de A ao acumulador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76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Indireto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Pode ser aninhado, </a:t>
            </a:r>
            <a:r>
              <a:rPr lang="pt-BR" dirty="0" err="1" smtClean="0"/>
              <a:t>multi-nível</a:t>
            </a:r>
            <a:r>
              <a:rPr lang="pt-BR" dirty="0" smtClean="0"/>
              <a:t>, em cascata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Endereçamento indireto de 1 nível é comum, com mais de 1 é raro.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Vantagem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Grande espaço de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, onde n é o tamanho da palavra de memória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Desvantagem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Múltiplos acessos à memória para encontrar operando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ADD [A] – Requer 2 acessos para obter operando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Indireto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Diagrama do Endereçamento Indireto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583" y="2038350"/>
            <a:ext cx="5955637" cy="347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0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de 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Operando é mantido no registrador nomeado no campo de endereço</a:t>
            </a:r>
          </a:p>
          <a:p>
            <a:pPr algn="just"/>
            <a:r>
              <a:rPr lang="pt-BR" dirty="0" smtClean="0"/>
              <a:t>EA = R</a:t>
            </a:r>
          </a:p>
          <a:p>
            <a:pPr algn="just"/>
            <a:r>
              <a:rPr lang="pt-BR" dirty="0" smtClean="0"/>
              <a:t>Desvantagem: 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 limitado de registradores</a:t>
            </a:r>
          </a:p>
          <a:p>
            <a:pPr algn="just"/>
            <a:r>
              <a:rPr lang="pt-BR" dirty="0" smtClean="0"/>
              <a:t>Vantagem: 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Tamanho do campo de endereço necessário na instrução é pequeno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Instruções mais curtas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Nenhum acesso à memória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Busca e execução de instrução mais rápida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17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de 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Diagrama do Endereçamento de Registradores</a:t>
            </a:r>
            <a:endParaRPr lang="pt-BR" dirty="0" smtClean="0">
              <a:solidFill>
                <a:srgbClr val="00B0F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52" y="2095500"/>
            <a:ext cx="5253590" cy="342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0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Indireto por 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Operando está na posição de memória apontada pelo conteúdo do registrador R</a:t>
            </a:r>
          </a:p>
          <a:p>
            <a:pPr algn="just"/>
            <a:r>
              <a:rPr lang="pt-BR" dirty="0" smtClean="0"/>
              <a:t>EA = [R]</a:t>
            </a:r>
          </a:p>
          <a:p>
            <a:pPr algn="just"/>
            <a:r>
              <a:rPr lang="pt-BR" dirty="0" smtClean="0"/>
              <a:t>Vantagens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Grande espaço de endereçamento (2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), onde n é o tamanho do registrador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Requer 1 acesso de memória a menos para busca de operando do que endereçamento indireto simples</a:t>
            </a:r>
          </a:p>
          <a:p>
            <a:pPr algn="just"/>
            <a:r>
              <a:rPr lang="pt-BR" dirty="0" smtClean="0"/>
              <a:t>Desvantagem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Espaço de endereçamento limitado ao tamanho do registrador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94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Indireto por 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mtClean="0"/>
              <a:t>Diagrama </a:t>
            </a:r>
            <a:r>
              <a:rPr lang="pt-BR" dirty="0" smtClean="0"/>
              <a:t>de Endereçamento Indireto por Registradores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157" y="2014537"/>
            <a:ext cx="6355309" cy="350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9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por Deslocamento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operando está no endereço guardado no registrador R adicionando-se um valor A</a:t>
            </a: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EA = [R] + 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ADD [R] + 8</a:t>
            </a: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Campo de endereço mantém dois valores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= Valor do deslocamento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 = Registrador que contém o valor base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88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por Deslocamento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Diagrama de Endereçamento por Deslocamento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402" y="2033587"/>
            <a:ext cx="6525896" cy="348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4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por Deslocamento: Relativo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Deslocamento tomado a partir do PC: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EA = [PC] + 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Ou seja, obtenha o operando A “posições” a partir da instrução corrente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Explora conceito de localidade espacial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a maioria das referências à memória são próximas, pode-se economizar bits no campo de endereço da instrução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Raramente utilizado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36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Endereçamento de Pilha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Operando(s) está(</a:t>
            </a:r>
            <a:r>
              <a:rPr lang="pt-BR" dirty="0" err="1" smtClean="0"/>
              <a:t>ão</a:t>
            </a:r>
            <a:r>
              <a:rPr lang="pt-BR" dirty="0" smtClean="0"/>
              <a:t>) no topo da pilha (implicitamente)</a:t>
            </a:r>
          </a:p>
          <a:p>
            <a:pPr algn="just"/>
            <a:r>
              <a:rPr lang="pt-BR" dirty="0" smtClean="0"/>
              <a:t>Exemplo: ADD.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Retira dois itens do topo da pilha e os soma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Coloca o resultado no novo topo da pilha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PUSH a</a:t>
            </a:r>
          </a:p>
          <a:p>
            <a:pPr algn="just"/>
            <a:r>
              <a:rPr lang="pt-BR" dirty="0" smtClean="0"/>
              <a:t>PUSH b</a:t>
            </a:r>
          </a:p>
          <a:p>
            <a:pPr algn="just"/>
            <a:r>
              <a:rPr lang="pt-BR" dirty="0" smtClean="0"/>
              <a:t>ADD</a:t>
            </a:r>
          </a:p>
          <a:p>
            <a:pPr algn="just"/>
            <a:r>
              <a:rPr lang="pt-BR" dirty="0" smtClean="0"/>
              <a:t>POP c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00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Modos de Endereçamento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Modos Básicos de Endereçamento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16" y="2268596"/>
            <a:ext cx="9844368" cy="280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Formatos de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Uma instrução deve no mínimo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Incluir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opcode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Incluir operando(s) (implícitos ou explícitos)</a:t>
            </a:r>
          </a:p>
          <a:p>
            <a:pPr algn="just"/>
            <a:r>
              <a:rPr lang="pt-BR" dirty="0" smtClean="0"/>
              <a:t>Normalmente existe mais de um formato de instrução em um conjunto de instruções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No IAS era apenas um formato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No Intel x86 temos vários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Discutiremos alguns pontos sobre o tamanho das instruções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95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número de bits em uma instrução influencia em: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Tamanho da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Organização da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Estrutura de barramento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Complexidade da CPU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Velocidade da CPU (instruções por segundo)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96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número de bits em uma instrução influencia em: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Quantidade de modos de endereçamento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 de operandos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Operando em </a:t>
            </a:r>
            <a:r>
              <a:rPr lang="pt-BR" u="sng" dirty="0" smtClean="0">
                <a:solidFill>
                  <a:schemeClr val="accent1">
                    <a:lumMod val="75000"/>
                  </a:schemeClr>
                </a:solidFill>
              </a:rPr>
              <a:t>registrador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operando na </a:t>
            </a:r>
            <a:r>
              <a:rPr lang="pt-BR" u="sng" dirty="0" smtClean="0">
                <a:solidFill>
                  <a:schemeClr val="accent1">
                    <a:lumMod val="75000"/>
                  </a:schemeClr>
                </a:solidFill>
              </a:rPr>
              <a:t>memória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Quanto menos registradores, menos bits necessários para identificar cada um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Exemplo: Se temos apenas um registrador de uso geral o operando é implícito, então não precisamos de nenhum bit para identifica-lo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39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número de bits em uma instrução influencia em: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 de conjuntos de registradores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Dividir registradores em conjuntos especializados, no qual o </a:t>
            </a:r>
            <a:r>
              <a:rPr lang="pt-BR" dirty="0" err="1" smtClean="0">
                <a:solidFill>
                  <a:srgbClr val="00B0F0"/>
                </a:solidFill>
              </a:rPr>
              <a:t>opcode</a:t>
            </a:r>
            <a:r>
              <a:rPr lang="pt-BR" dirty="0" smtClean="0">
                <a:solidFill>
                  <a:srgbClr val="00B0F0"/>
                </a:solidFill>
              </a:rPr>
              <a:t> determina implicitamente o banco usado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Buscamos um equilíbrio entre um repertório de instruções poderoso e economia de espaço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99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Formato de Instrução do Intel x86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0809" y="1885677"/>
            <a:ext cx="8155082" cy="37565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248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Formato de Instrução do Intel x86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Prefixos da instrução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LOCK</a:t>
            </a:r>
          </a:p>
          <a:p>
            <a:pPr lvl="1" algn="just"/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Jumps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em geral</a:t>
            </a:r>
          </a:p>
          <a:p>
            <a:pPr algn="just"/>
            <a:r>
              <a:rPr lang="pt-BR" dirty="0" smtClean="0"/>
              <a:t>Seleção de segmento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Determina qual registrador de segmento uma instrução deve utilizar</a:t>
            </a:r>
          </a:p>
          <a:p>
            <a:pPr algn="just"/>
            <a:r>
              <a:rPr lang="pt-BR" dirty="0" smtClean="0"/>
              <a:t>Tamanho do operando e do endereço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16 ou 32 bits</a:t>
            </a:r>
          </a:p>
          <a:p>
            <a:pPr algn="just"/>
            <a:r>
              <a:rPr lang="pt-BR" dirty="0" err="1" smtClean="0"/>
              <a:t>Opcode</a:t>
            </a:r>
            <a:endParaRPr lang="pt-BR" dirty="0" smtClean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Pode informar também a direção da operação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92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Formato de Instrução do Intel x86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err="1" smtClean="0"/>
              <a:t>ModR</a:t>
            </a:r>
            <a:r>
              <a:rPr lang="pt-BR" dirty="0" smtClean="0"/>
              <a:t>/m, SIB e Deslocamento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Especificam se um operando está em um registrador ou na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estiver na memória, então especificam também o modo de endereçamento a ser usado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Imediato: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Fornece o valor de um operando </a:t>
            </a:r>
            <a:r>
              <a:rPr lang="pt-BR" smtClean="0">
                <a:solidFill>
                  <a:schemeClr val="accent1">
                    <a:lumMod val="75000"/>
                  </a:schemeClr>
                </a:solidFill>
              </a:rPr>
              <a:t>de 8,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16 ou 32 bits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5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="" xmlns:a16="http://schemas.microsoft.com/office/drawing/2014/main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26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4637</TotalTime>
  <Words>1044</Words>
  <Application>Microsoft Office PowerPoint</Application>
  <PresentationFormat>Widescreen</PresentationFormat>
  <Paragraphs>220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Arial</vt:lpstr>
      <vt:lpstr>Calibri</vt:lpstr>
      <vt:lpstr>Tema do Office</vt:lpstr>
      <vt:lpstr>Conjuntos de Instruções – Endereçamento e Formato</vt:lpstr>
      <vt:lpstr>Modos de Endereçamento</vt:lpstr>
      <vt:lpstr>Endereçamento Imediato</vt:lpstr>
      <vt:lpstr>Endereçamento Imediato</vt:lpstr>
      <vt:lpstr>Endereçamento Direto</vt:lpstr>
      <vt:lpstr>Endereçamento Direto</vt:lpstr>
      <vt:lpstr>Endereçamento Indireto</vt:lpstr>
      <vt:lpstr>Endereçamento Indireto</vt:lpstr>
      <vt:lpstr>Endereçamento Indireto</vt:lpstr>
      <vt:lpstr>Endereçamento de Registradores</vt:lpstr>
      <vt:lpstr>Endereçamento de Registradores</vt:lpstr>
      <vt:lpstr>Endereçamento Indireto por Registradores</vt:lpstr>
      <vt:lpstr>Endereçamento Indireto por Registradores</vt:lpstr>
      <vt:lpstr>Endereçamento por Deslocamento</vt:lpstr>
      <vt:lpstr>Endereçamento por Deslocamento</vt:lpstr>
      <vt:lpstr>Endereçamento por Deslocamento: Relativo</vt:lpstr>
      <vt:lpstr>Endereçamento de Pilha</vt:lpstr>
      <vt:lpstr>Modos de Endereçamento</vt:lpstr>
      <vt:lpstr>Formatos de Instrução</vt:lpstr>
      <vt:lpstr>Tamanho da Instrução</vt:lpstr>
      <vt:lpstr>Tamanho da Instrução</vt:lpstr>
      <vt:lpstr>Tamanho da Instrução</vt:lpstr>
      <vt:lpstr>Tamanho da Instrução</vt:lpstr>
      <vt:lpstr>Formato de Instrução do Intel x86</vt:lpstr>
      <vt:lpstr>Formato de Instrução do Intel x86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441</cp:revision>
  <dcterms:created xsi:type="dcterms:W3CDTF">2018-05-19T12:58:17Z</dcterms:created>
  <dcterms:modified xsi:type="dcterms:W3CDTF">2022-02-17T18:52:31Z</dcterms:modified>
</cp:coreProperties>
</file>