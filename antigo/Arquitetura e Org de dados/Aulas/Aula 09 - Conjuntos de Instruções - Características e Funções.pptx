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6"/>
  </p:notesMasterIdLst>
  <p:sldIdLst>
    <p:sldId id="256" r:id="rId2"/>
    <p:sldId id="407" r:id="rId3"/>
    <p:sldId id="408" r:id="rId4"/>
    <p:sldId id="409" r:id="rId5"/>
    <p:sldId id="410" r:id="rId6"/>
    <p:sldId id="411" r:id="rId7"/>
    <p:sldId id="412" r:id="rId8"/>
    <p:sldId id="413" r:id="rId9"/>
    <p:sldId id="414" r:id="rId10"/>
    <p:sldId id="415" r:id="rId11"/>
    <p:sldId id="416" r:id="rId12"/>
    <p:sldId id="417" r:id="rId13"/>
    <p:sldId id="418" r:id="rId14"/>
    <p:sldId id="419" r:id="rId15"/>
    <p:sldId id="420" r:id="rId16"/>
    <p:sldId id="421" r:id="rId17"/>
    <p:sldId id="422" r:id="rId18"/>
    <p:sldId id="423" r:id="rId19"/>
    <p:sldId id="424" r:id="rId20"/>
    <p:sldId id="425" r:id="rId21"/>
    <p:sldId id="426" r:id="rId22"/>
    <p:sldId id="427" r:id="rId23"/>
    <p:sldId id="428" r:id="rId24"/>
    <p:sldId id="429" r:id="rId25"/>
    <p:sldId id="430" r:id="rId26"/>
    <p:sldId id="431" r:id="rId27"/>
    <p:sldId id="432" r:id="rId28"/>
    <p:sldId id="433" r:id="rId29"/>
    <p:sldId id="434" r:id="rId30"/>
    <p:sldId id="435" r:id="rId31"/>
    <p:sldId id="436" r:id="rId32"/>
    <p:sldId id="437" r:id="rId33"/>
    <p:sldId id="438" r:id="rId34"/>
    <p:sldId id="357" r:id="rId3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isson Renan Svaigen" initials="ARS" lastIdx="1" clrIdx="0">
    <p:extLst>
      <p:ext uri="{19B8F6BF-5375-455C-9EA6-DF929625EA0E}">
        <p15:presenceInfo xmlns:p15="http://schemas.microsoft.com/office/powerpoint/2012/main" userId="87d620b7ea14512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4F4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7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54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FCDB7B-D632-485B-9A2A-E0A169BDD1C9}" type="datetimeFigureOut">
              <a:rPr lang="pt-BR" smtClean="0"/>
              <a:t>11/02/2022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7FF906-620E-4E4D-AD83-85F9956C52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7744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2442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3342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03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6389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004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5539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4062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09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63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1871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8363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414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09006" y="1168400"/>
            <a:ext cx="11696700" cy="500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0" y="6486525"/>
            <a:ext cx="11696700" cy="36512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none"/>
        </p:style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pt-BR"/>
              <a:t>MannaHap: um modelo de sistema háptico assistivo de representação de imagens para deficientes visuais | Álisson Renan Svaigen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1696700" y="6486525"/>
            <a:ext cx="495300" cy="36512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none"/>
        </p:style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BDB6521-5767-44C1-B935-036EFCA3B4E2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666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906508"/>
            <a:ext cx="12191999" cy="1759993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r>
              <a:rPr lang="pt-BR" sz="4600" b="1" dirty="0" smtClean="0"/>
              <a:t>Conjuntos de Instruções – Características e Funções</a:t>
            </a:r>
            <a:endParaRPr lang="pt-BR" sz="46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375094" y="4112734"/>
            <a:ext cx="7441808" cy="1879763"/>
          </a:xfrm>
        </p:spPr>
        <p:txBody>
          <a:bodyPr>
            <a:normAutofit/>
          </a:bodyPr>
          <a:lstStyle/>
          <a:p>
            <a:r>
              <a:rPr lang="pt-BR" b="1" dirty="0" smtClean="0"/>
              <a:t>Professor Felippe Fernandes da Silva</a:t>
            </a:r>
            <a:endParaRPr lang="pt-BR" b="1" dirty="0"/>
          </a:p>
          <a:p>
            <a:r>
              <a:rPr lang="pt-BR" dirty="0" smtClean="0"/>
              <a:t>ffsilva2@uem.br</a:t>
            </a:r>
            <a:endParaRPr lang="pt-BR" dirty="0"/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xmlns="" id="{1A540BBE-3281-43C6-8695-E79F42A38A82}"/>
              </a:ext>
            </a:extLst>
          </p:cNvPr>
          <p:cNvSpPr txBox="1">
            <a:spLocks/>
          </p:cNvSpPr>
          <p:nvPr/>
        </p:nvSpPr>
        <p:spPr>
          <a:xfrm>
            <a:off x="2715220" y="28135"/>
            <a:ext cx="6761557" cy="17599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000" b="1" dirty="0" smtClean="0"/>
          </a:p>
          <a:p>
            <a:r>
              <a:rPr lang="pt-BR" sz="2000" b="1" dirty="0" smtClean="0"/>
              <a:t>UEM</a:t>
            </a:r>
            <a:endParaRPr lang="pt-BR" sz="2000" b="1" dirty="0"/>
          </a:p>
          <a:p>
            <a:r>
              <a:rPr lang="pt-BR" sz="2000" b="1" dirty="0" smtClean="0"/>
              <a:t>ARQUITETURA E ORGANIZAÇÃO DE COMPUTADORES</a:t>
            </a:r>
            <a:endParaRPr lang="pt-BR" sz="2000" b="1" dirty="0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532" y="5478355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7656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Introdução – O que é um Conjunto de Instruções?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A operação de uma CPU é determinada pelas instruções (comandos) que ela executa, denominadas instruções de máquina ou instruções do computador</a:t>
            </a:r>
          </a:p>
          <a:p>
            <a:pPr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A coleção dessas diferentes instruções é chamada conjunto de instruções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283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Elementos de uma Instrução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Código da operação (</a:t>
            </a:r>
            <a:r>
              <a:rPr lang="pt-BR" dirty="0" err="1" smtClean="0"/>
              <a:t>Opcode</a:t>
            </a:r>
            <a:r>
              <a:rPr lang="pt-BR" dirty="0" smtClean="0"/>
              <a:t>)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Faça isso</a:t>
            </a:r>
          </a:p>
          <a:p>
            <a:pPr algn="just"/>
            <a:r>
              <a:rPr lang="pt-BR" dirty="0" smtClean="0"/>
              <a:t>Referência a operando fonte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Nisso</a:t>
            </a:r>
          </a:p>
          <a:p>
            <a:pPr algn="just"/>
            <a:r>
              <a:rPr lang="pt-BR" dirty="0" smtClean="0"/>
              <a:t>Referência a operando destino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Coloque a resposta aqui</a:t>
            </a:r>
          </a:p>
          <a:p>
            <a:pPr algn="just"/>
            <a:r>
              <a:rPr lang="pt-BR" dirty="0" smtClean="0"/>
              <a:t>Referência à próxima instrução (“incomum”)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Quando tiver feito isso, faça isto...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440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Ciclo de Instrução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Exemplo do Ciclo de Instrução</a:t>
            </a: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4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2942" y="2028650"/>
            <a:ext cx="7730815" cy="348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855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Representação da Instrução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 smtClean="0"/>
              <a:t>Em código de máquina, cada instrução é representada por um padrão de bits exclusivo</a:t>
            </a:r>
          </a:p>
          <a:p>
            <a:pPr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Para melhor entendimento dos programadores utiliza-se uma representação simbólica (Assembly)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Exemplo: ADD, SUB, LOAD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Operando também possuem padrões de bits exclusivos e podem ser representados de maneira simbólica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Exemplo: ADD %</a:t>
            </a:r>
            <a:r>
              <a:rPr lang="pt-BR" dirty="0" err="1" smtClean="0">
                <a:solidFill>
                  <a:schemeClr val="accent1">
                    <a:lumMod val="75000"/>
                  </a:schemeClr>
                </a:solidFill>
              </a:rPr>
              <a:t>eax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, %</a:t>
            </a:r>
            <a:r>
              <a:rPr lang="pt-BR" dirty="0" err="1" smtClean="0">
                <a:solidFill>
                  <a:schemeClr val="accent1">
                    <a:lumMod val="75000"/>
                  </a:schemeClr>
                </a:solidFill>
              </a:rPr>
              <a:t>ebx</a:t>
            </a: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5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3385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Formato de Instrução Simples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Durante a execução da instrução, seu </a:t>
            </a:r>
            <a:r>
              <a:rPr lang="pt-BR" dirty="0" err="1" smtClean="0"/>
              <a:t>opcode</a:t>
            </a:r>
            <a:r>
              <a:rPr lang="pt-BR" dirty="0" smtClean="0"/>
              <a:t> é lido para o registrador de instrução (IR)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No processador, o IR é examinado para que a instrução possa ser identificada (decodificada)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6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541" y="3523265"/>
            <a:ext cx="8227629" cy="136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062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Tipos de Instruções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Processamento de dados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Aritmética e Lógica</a:t>
            </a:r>
          </a:p>
          <a:p>
            <a:pPr algn="just"/>
            <a:r>
              <a:rPr lang="pt-BR" dirty="0" smtClean="0"/>
              <a:t>Armazenamento de dados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Movimentação de dados entre registradores e memória principal</a:t>
            </a:r>
          </a:p>
          <a:p>
            <a:pPr algn="just"/>
            <a:r>
              <a:rPr lang="pt-BR" dirty="0" smtClean="0"/>
              <a:t>Movimentação de dados para E/S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Instruções para realização de operações de E/S</a:t>
            </a:r>
          </a:p>
          <a:p>
            <a:pPr algn="just"/>
            <a:r>
              <a:rPr lang="pt-BR" dirty="0" smtClean="0"/>
              <a:t>Controle de fluxo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Instruções de teste e desvio de fluxo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7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0221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Quantidade de Endereços em uma Instrução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São 3 endereços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1º Operando, 2º Operando e Resultado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 = b + c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Exemplo: ADD, a, b, c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Não é comum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8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9148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Quantidade de Endereços em uma Instrução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São 2 endereços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Um endereço servindo como operando e resultado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 = a + b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Exemplo: ADD a, b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Reduz tamanho da instrução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Requer algum trabalho extra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Programador precisa realizar um armazenamento temporário para manter o valor de a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9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4595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Quantidade de Endereços em uma Instrução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É 1 endereço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Segundo endereço é implícito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Normalmente é utilizada para o registrador acumulador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 = a + 1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Exemplo: INC 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Comum nas primeiras máquinas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10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8509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Quantidade de Endereços em uma Instrução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0 endereços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Todos os endereços são implícitos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Usa Pilha implicitamente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Exemplo: c = a + b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PUSH a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PUSH b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ADD c</a:t>
            </a:r>
            <a:endParaRPr lang="pt-BR" dirty="0" smtClean="0">
              <a:solidFill>
                <a:srgbClr val="00B0F0"/>
              </a:solidFill>
            </a:endParaRP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POP c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11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2724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Questão de Projeto: Quantos Endereços?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Mais endereços: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Instruções mais complexas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Necessidade de mais registradores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Menos instruções por programa</a:t>
            </a:r>
          </a:p>
          <a:p>
            <a:pPr lvl="1" algn="just"/>
            <a:endParaRPr lang="pt-BR" dirty="0"/>
          </a:p>
          <a:p>
            <a:pPr algn="just"/>
            <a:r>
              <a:rPr lang="pt-BR" dirty="0" smtClean="0"/>
              <a:t>Menos endereços: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Mais instruções por programa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Instruções menos complexas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Busca/execução de instruções mais rápida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12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3399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Outras decisões de Projeto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 smtClean="0"/>
              <a:t>Repertório de Operações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Quantas Operações?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O que elas podem fazer?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Qual a complexidade delas?</a:t>
            </a:r>
          </a:p>
          <a:p>
            <a:pPr algn="just"/>
            <a:endParaRPr lang="pt-BR" dirty="0" smtClean="0"/>
          </a:p>
          <a:p>
            <a:pPr algn="just"/>
            <a:r>
              <a:rPr lang="pt-BR" dirty="0" smtClean="0"/>
              <a:t>Tipos de dados aceitos</a:t>
            </a:r>
          </a:p>
          <a:p>
            <a:pPr algn="just"/>
            <a:endParaRPr lang="pt-BR" dirty="0" smtClean="0"/>
          </a:p>
          <a:p>
            <a:pPr algn="just"/>
            <a:r>
              <a:rPr lang="pt-BR" dirty="0" smtClean="0"/>
              <a:t>Formatos de instrução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Tamanho do campo de código de operação (</a:t>
            </a:r>
            <a:r>
              <a:rPr lang="pt-BR" dirty="0" err="1" smtClean="0">
                <a:solidFill>
                  <a:schemeClr val="accent1">
                    <a:lumMod val="75000"/>
                  </a:schemeClr>
                </a:solidFill>
              </a:rPr>
              <a:t>opcode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Número de endereços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13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0500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Outras decisões de Projeto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Registradores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Número de registradores da CPU disponíveis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Quais operações podem ser realizadas sobre quais registradores?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Modos de endereçamento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Veremos na próxima aula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Qual paradigma arquitetural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RISC </a:t>
            </a:r>
            <a:r>
              <a:rPr lang="pt-BR" dirty="0" err="1" smtClean="0">
                <a:solidFill>
                  <a:schemeClr val="accent1">
                    <a:lumMod val="75000"/>
                  </a:schemeClr>
                </a:solidFill>
              </a:rPr>
              <a:t>vs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 CISC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Escolha influenciará nas decisões anteriores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14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9775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Tipos de Operandos em instruções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Endereços</a:t>
            </a:r>
          </a:p>
          <a:p>
            <a:pPr algn="just"/>
            <a:r>
              <a:rPr lang="pt-BR" dirty="0" smtClean="0"/>
              <a:t>Números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Inteiros ou ponto flutuantes</a:t>
            </a:r>
          </a:p>
          <a:p>
            <a:pPr algn="just"/>
            <a:r>
              <a:rPr lang="pt-BR" dirty="0" smtClean="0"/>
              <a:t>Caracteres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ASCII (Nada mais são do que números também!)</a:t>
            </a:r>
          </a:p>
          <a:p>
            <a:pPr algn="just"/>
            <a:r>
              <a:rPr lang="pt-BR" dirty="0" smtClean="0"/>
              <a:t>Dados lógicos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Bits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15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2211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Tipos de Operações em instruções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Transferência de Dados</a:t>
            </a:r>
          </a:p>
          <a:p>
            <a:pPr algn="just"/>
            <a:r>
              <a:rPr lang="pt-BR" dirty="0" smtClean="0"/>
              <a:t>Aritmética</a:t>
            </a:r>
          </a:p>
          <a:p>
            <a:pPr algn="just"/>
            <a:r>
              <a:rPr lang="pt-BR" dirty="0" smtClean="0"/>
              <a:t>Lógica</a:t>
            </a:r>
          </a:p>
          <a:p>
            <a:pPr algn="just"/>
            <a:r>
              <a:rPr lang="pt-BR" dirty="0" smtClean="0"/>
              <a:t>E/S</a:t>
            </a:r>
          </a:p>
          <a:p>
            <a:pPr algn="just"/>
            <a:r>
              <a:rPr lang="pt-BR" dirty="0" smtClean="0"/>
              <a:t>Controle do Sistema</a:t>
            </a:r>
          </a:p>
          <a:p>
            <a:pPr algn="just"/>
            <a:r>
              <a:rPr lang="pt-BR" dirty="0" smtClean="0"/>
              <a:t>Transferência de Controle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16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616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Transferência de Dados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Especificam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Origem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Destino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Quantidade de Dados</a:t>
            </a:r>
          </a:p>
          <a:p>
            <a:pPr lvl="1" algn="just"/>
            <a:endParaRPr lang="pt-BR" dirty="0" smtClean="0"/>
          </a:p>
          <a:p>
            <a:pPr algn="just"/>
            <a:r>
              <a:rPr lang="pt-BR" dirty="0" smtClean="0"/>
              <a:t>Podem ser instruções diferentes para diferentes movimentações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IAS, IBM 370</a:t>
            </a:r>
          </a:p>
          <a:p>
            <a:pPr lvl="1" algn="just"/>
            <a:endParaRPr lang="pt-BR" dirty="0"/>
          </a:p>
          <a:p>
            <a:pPr algn="just"/>
            <a:r>
              <a:rPr lang="pt-BR" dirty="0" smtClean="0"/>
              <a:t>Ou uma instrução e diferentes endereços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VAX, Intel x86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17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4072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Aritmética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pt-BR" dirty="0" smtClean="0"/>
              <a:t>Envolvem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Transferência de dados antes e/ou depois da operação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Execução da operação na ULA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Atualização dos códigos de condições (</a:t>
            </a:r>
            <a:r>
              <a:rPr lang="pt-BR" dirty="0" err="1" smtClean="0">
                <a:solidFill>
                  <a:schemeClr val="accent1">
                    <a:lumMod val="75000"/>
                  </a:schemeClr>
                </a:solidFill>
              </a:rPr>
              <a:t>flags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  <a:p>
            <a:pPr algn="just"/>
            <a:endParaRPr lang="pt-BR" dirty="0"/>
          </a:p>
          <a:p>
            <a:pPr algn="just"/>
            <a:r>
              <a:rPr lang="pt-BR" dirty="0" smtClean="0"/>
              <a:t>Operações Básicas: Soma, Subtração, Multiplicação, Divisão</a:t>
            </a:r>
          </a:p>
          <a:p>
            <a:pPr algn="just"/>
            <a:endParaRPr lang="pt-BR" dirty="0" smtClean="0"/>
          </a:p>
          <a:p>
            <a:pPr algn="just"/>
            <a:r>
              <a:rPr lang="pt-BR" dirty="0" smtClean="0"/>
              <a:t>Outras operações possíveis: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Incremento (a++) ou decremento (a--) do operando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Negação do operando (-a)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Valor absoluto do operando (|a|)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18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7828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Lógica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 smtClean="0"/>
              <a:t>Operações lógicas básicas sobre dados booleanos ou binários</a:t>
            </a:r>
          </a:p>
          <a:p>
            <a:pPr lvl="1" algn="just"/>
            <a:r>
              <a:rPr lang="pt-BR" b="1" dirty="0" smtClean="0">
                <a:solidFill>
                  <a:schemeClr val="accent1">
                    <a:lumMod val="75000"/>
                  </a:schemeClr>
                </a:solidFill>
              </a:rPr>
              <a:t>NOT, AND, OR, XOR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: Mais comuns</a:t>
            </a:r>
          </a:p>
          <a:p>
            <a:pPr lvl="1" algn="just"/>
            <a:r>
              <a:rPr lang="pt-BR" b="1" dirty="0" smtClean="0">
                <a:solidFill>
                  <a:schemeClr val="accent1">
                    <a:lumMod val="75000"/>
                  </a:schemeClr>
                </a:solidFill>
              </a:rPr>
              <a:t>EQUAL: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 Teste de igualdade binária</a:t>
            </a:r>
          </a:p>
          <a:p>
            <a:pPr lvl="1"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Deslocamento lógico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Os bits de uma palavra são deslocados para direita ou esquerda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O bit deslocado para fora se perde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Na outra extremidade, um 0 é deslocado para dentro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Deslocamento aritmético? </a:t>
            </a:r>
            <a:endParaRPr lang="pt-BR" dirty="0"/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Veremos a seguir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19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0977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Operações de Deslocamento e Rotação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Exemplo:</a:t>
            </a: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20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735" y="2186047"/>
            <a:ext cx="7581241" cy="297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321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Entrada/Saída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Pode ser feito com: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Instruções específicas; ou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Usando instruções de movimentação de dados em conjunto com interrupções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Exemplo: Intel x86 – Operação de saída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21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0701" y="3844977"/>
            <a:ext cx="7173310" cy="132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198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Controle do Sistema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Instruções privilegiadas</a:t>
            </a:r>
            <a:endParaRPr lang="pt-BR" dirty="0"/>
          </a:p>
          <a:p>
            <a:pPr algn="just"/>
            <a:r>
              <a:rPr lang="pt-BR" dirty="0" smtClean="0"/>
              <a:t>CPU precisa estar em estado específico: Modo </a:t>
            </a:r>
            <a:r>
              <a:rPr lang="pt-BR" dirty="0" err="1" smtClean="0"/>
              <a:t>Kernel</a:t>
            </a:r>
            <a:endParaRPr lang="pt-BR" dirty="0"/>
          </a:p>
          <a:p>
            <a:pPr algn="just"/>
            <a:r>
              <a:rPr lang="pt-BR" dirty="0" smtClean="0"/>
              <a:t>Em geral são apenas de uso dos sistemas operacionais</a:t>
            </a:r>
            <a:endParaRPr lang="pt-BR" dirty="0"/>
          </a:p>
          <a:p>
            <a:pPr algn="just"/>
            <a:r>
              <a:rPr lang="pt-BR" dirty="0" smtClean="0"/>
              <a:t>Exemplos: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Leitura ou alteração de um registrador de controle (PC, IR, MAR, MBR...)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Leitura ou alteração de uma chave de proteção da memória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Acesso a blocos de memória usados para controle de processos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22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7105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Transferência de Controle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Desvio: Tem como um de seus operandos o “endereço” da próxima instrução a ser executada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Desvio Condicional: Só é tomado se uma condição for atendida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Desvio Incondicional: É sempre tomado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Exemplos:</a:t>
            </a:r>
          </a:p>
          <a:p>
            <a:pPr marL="457200" lvl="1" indent="0" algn="just">
              <a:buNone/>
            </a:pP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23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28" y="4173756"/>
            <a:ext cx="6288918" cy="151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733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Transferência de Controle – Exemplo de Desvio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Exemplos:</a:t>
            </a:r>
          </a:p>
          <a:p>
            <a:pPr marL="457200" lvl="1" indent="0" algn="just">
              <a:buNone/>
            </a:pP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24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3" t="1585" r="2840" b="3677"/>
          <a:stretch>
            <a:fillRect/>
          </a:stretch>
        </p:blipFill>
        <p:spPr>
          <a:xfrm>
            <a:off x="2284412" y="1550987"/>
            <a:ext cx="7127875" cy="47529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29284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Transferência de Controle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Salto: inclui um endereço implícito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Normalmente implica que uma instrução seja pulada, assim o endereço implícito é igual ao endereço da próxima instrução</a:t>
            </a:r>
          </a:p>
          <a:p>
            <a:pPr lvl="1" algn="just"/>
            <a:endParaRPr lang="pt-BR" dirty="0"/>
          </a:p>
          <a:p>
            <a:pPr algn="just"/>
            <a:r>
              <a:rPr lang="pt-BR" dirty="0" smtClean="0"/>
              <a:t>Exemplo: ISZ – </a:t>
            </a:r>
            <a:r>
              <a:rPr lang="pt-BR" i="1" dirty="0" err="1" smtClean="0"/>
              <a:t>Increment</a:t>
            </a:r>
            <a:r>
              <a:rPr lang="pt-BR" i="1" dirty="0" smtClean="0"/>
              <a:t>-</a:t>
            </a:r>
            <a:r>
              <a:rPr lang="pt-BR" i="1" dirty="0" err="1" smtClean="0"/>
              <a:t>and</a:t>
            </a:r>
            <a:r>
              <a:rPr lang="pt-BR" i="1" dirty="0" smtClean="0"/>
              <a:t>-</a:t>
            </a:r>
            <a:r>
              <a:rPr lang="pt-BR" i="1" dirty="0" err="1" smtClean="0"/>
              <a:t>Skip</a:t>
            </a:r>
            <a:r>
              <a:rPr lang="pt-BR" i="1" dirty="0" smtClean="0"/>
              <a:t>-</a:t>
            </a:r>
            <a:r>
              <a:rPr lang="pt-BR" i="1" dirty="0" err="1" smtClean="0"/>
              <a:t>if</a:t>
            </a:r>
            <a:r>
              <a:rPr lang="pt-BR" i="1" dirty="0" smtClean="0"/>
              <a:t>-Zero</a:t>
            </a:r>
            <a:endParaRPr lang="pt-BR" dirty="0" smtClean="0"/>
          </a:p>
          <a:p>
            <a:pPr marL="457200" lvl="1" indent="0" algn="just">
              <a:buNone/>
            </a:pP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25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906" y="3797683"/>
            <a:ext cx="2468887" cy="197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602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Transferência de Controle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Chamada de sub-rotina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Em uma chamada de procedimento, o processador é instruído a ir executar o procedimento inteiro e depois retornar ao ponto onde ocorrer a chamada</a:t>
            </a:r>
          </a:p>
          <a:p>
            <a:pPr lvl="1" algn="just"/>
            <a:endParaRPr lang="pt-BR" dirty="0"/>
          </a:p>
          <a:p>
            <a:pPr algn="just"/>
            <a:r>
              <a:rPr lang="pt-BR" dirty="0" smtClean="0"/>
              <a:t>Inovação mais importante no desenvolvimento de linguagens de programação</a:t>
            </a:r>
          </a:p>
          <a:p>
            <a:pPr algn="just"/>
            <a:endParaRPr lang="pt-BR" dirty="0"/>
          </a:p>
          <a:p>
            <a:pPr algn="just"/>
            <a:r>
              <a:rPr lang="pt-BR" dirty="0" smtClean="0"/>
              <a:t>Dois principais motivos: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Economia: Elimina a repetição de código; e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Modularidade: Divisão de grandes tarefas em unidades menores</a:t>
            </a:r>
          </a:p>
          <a:p>
            <a:pPr marL="457200" lvl="1" indent="0" algn="just">
              <a:buNone/>
            </a:pP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26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1960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Chamadas de Procedimentos Aninhados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Exemplo</a:t>
            </a: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 algn="just">
              <a:buNone/>
            </a:pP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27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10"/>
          <p:cNvGrpSpPr>
            <a:grpSpLocks noChangeAspect="1"/>
          </p:cNvGrpSpPr>
          <p:nvPr/>
        </p:nvGrpSpPr>
        <p:grpSpPr bwMode="auto">
          <a:xfrm>
            <a:off x="2536031" y="1251744"/>
            <a:ext cx="6624637" cy="5080000"/>
            <a:chOff x="1799" y="1178"/>
            <a:chExt cx="3960" cy="3036"/>
          </a:xfrm>
        </p:grpSpPr>
        <p:sp>
          <p:nvSpPr>
            <p:cNvPr id="9" name="AutoShape 9"/>
            <p:cNvSpPr>
              <a:spLocks noChangeAspect="1" noChangeArrowheads="1" noTextEdit="1"/>
            </p:cNvSpPr>
            <p:nvPr/>
          </p:nvSpPr>
          <p:spPr bwMode="auto">
            <a:xfrm>
              <a:off x="1799" y="1178"/>
              <a:ext cx="3960" cy="30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pic>
          <p:nvPicPr>
            <p:cNvPr id="10" name="Picture 1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9" y="1178"/>
              <a:ext cx="3969" cy="3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96830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Instruções de Chamada de </a:t>
            </a:r>
            <a:r>
              <a:rPr lang="pt-BR" dirty="0" err="1" smtClean="0"/>
              <a:t>Subrotina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Chamada de procedimentos envolve 2 instruções essenciais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Instrução de chamada (CALL): Desvia a execução da instrução corrente para o início da </a:t>
            </a:r>
            <a:r>
              <a:rPr lang="pt-BR" dirty="0" err="1" smtClean="0">
                <a:solidFill>
                  <a:schemeClr val="accent1">
                    <a:lumMod val="75000"/>
                  </a:schemeClr>
                </a:solidFill>
              </a:rPr>
              <a:t>subrotina</a:t>
            </a: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Instrução de retorno (RET): Retorna a execução para o endereço que ocorreu a chamada</a:t>
            </a:r>
          </a:p>
          <a:p>
            <a:pPr marL="457200" lvl="1" indent="0" algn="just">
              <a:buNone/>
            </a:pP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28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>
            <a:grpSpLocks noChangeAspect="1"/>
          </p:cNvGrpSpPr>
          <p:nvPr/>
        </p:nvGrpSpPr>
        <p:grpSpPr bwMode="auto">
          <a:xfrm>
            <a:off x="1491856" y="3473236"/>
            <a:ext cx="8712988" cy="2528247"/>
            <a:chOff x="1255" y="2614"/>
            <a:chExt cx="5035" cy="1461"/>
          </a:xfrm>
        </p:grpSpPr>
        <p:sp>
          <p:nvSpPr>
            <p:cNvPr id="12" name="AutoShape 9"/>
            <p:cNvSpPr>
              <a:spLocks noChangeAspect="1" noChangeArrowheads="1" noTextEdit="1"/>
            </p:cNvSpPr>
            <p:nvPr/>
          </p:nvSpPr>
          <p:spPr bwMode="auto">
            <a:xfrm>
              <a:off x="1255" y="2614"/>
              <a:ext cx="5035" cy="1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pic>
          <p:nvPicPr>
            <p:cNvPr id="13" name="Picture 1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061" r="1060" b="4308"/>
            <a:stretch>
              <a:fillRect/>
            </a:stretch>
          </p:blipFill>
          <p:spPr bwMode="auto">
            <a:xfrm>
              <a:off x="1255" y="2659"/>
              <a:ext cx="4990" cy="1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42491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Crescimento do Frame de Pilha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Exemplo</a:t>
            </a: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 algn="just">
              <a:buNone/>
            </a:pP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29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/>
          <p:cNvGrpSpPr>
            <a:grpSpLocks noChangeAspect="1"/>
          </p:cNvGrpSpPr>
          <p:nvPr/>
        </p:nvGrpSpPr>
        <p:grpSpPr bwMode="auto">
          <a:xfrm>
            <a:off x="2110698" y="1705550"/>
            <a:ext cx="7893315" cy="4471413"/>
            <a:chOff x="1346" y="1266"/>
            <a:chExt cx="5021" cy="2844"/>
          </a:xfrm>
        </p:grpSpPr>
        <p:sp>
          <p:nvSpPr>
            <p:cNvPr id="14" name="AutoShape 8"/>
            <p:cNvSpPr>
              <a:spLocks noChangeAspect="1" noChangeArrowheads="1" noTextEdit="1"/>
            </p:cNvSpPr>
            <p:nvPr/>
          </p:nvSpPr>
          <p:spPr bwMode="auto">
            <a:xfrm>
              <a:off x="1346" y="1266"/>
              <a:ext cx="5021" cy="28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pic>
          <p:nvPicPr>
            <p:cNvPr id="15" name="Picture 1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6" t="2718" r="1712" b="1855"/>
            <a:stretch>
              <a:fillRect/>
            </a:stretch>
          </p:blipFill>
          <p:spPr bwMode="auto">
            <a:xfrm>
              <a:off x="1391" y="1344"/>
              <a:ext cx="4899" cy="2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79163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Comparação de Programas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Exemplo</a:t>
            </a: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 algn="just">
              <a:buNone/>
            </a:pP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30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m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90" y="1946657"/>
            <a:ext cx="9046079" cy="4357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5288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Operações comuns do Conjunto de Instruções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Exemplo</a:t>
            </a: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 algn="just">
              <a:buNone/>
            </a:pP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31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95" b="5746"/>
          <a:stretch>
            <a:fillRect/>
          </a:stretch>
        </p:blipFill>
        <p:spPr bwMode="auto">
          <a:xfrm>
            <a:off x="2010019" y="1253332"/>
            <a:ext cx="7651750" cy="502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4666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Operações comuns do Conjunto de Instruções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Exemplo</a:t>
            </a: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 algn="just">
              <a:buNone/>
            </a:pP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32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2" b="58748"/>
          <a:stretch>
            <a:fillRect/>
          </a:stretch>
        </p:blipFill>
        <p:spPr bwMode="auto">
          <a:xfrm>
            <a:off x="508244" y="1939924"/>
            <a:ext cx="9401175" cy="436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0171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Operações comuns do Conjunto de Instruções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Exemplo</a:t>
            </a: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 algn="just">
              <a:buNone/>
            </a:pP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33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3747" y="1658253"/>
            <a:ext cx="7488022" cy="4518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9654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xmlns="" id="{B68B67C0-84A0-4EE8-8F3B-2111EEE89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782" y="2731721"/>
            <a:ext cx="4036572" cy="1671210"/>
          </a:xfrm>
          <a:noFill/>
          <a:ln>
            <a:noFill/>
          </a:ln>
        </p:spPr>
        <p:txBody>
          <a:bodyPr>
            <a:noAutofit/>
          </a:bodyPr>
          <a:lstStyle/>
          <a:p>
            <a:r>
              <a:rPr lang="pt-BR" sz="7200" smtClean="0">
                <a:solidFill>
                  <a:srgbClr val="002060"/>
                </a:solidFill>
              </a:rPr>
              <a:t>Dúvidas?</a:t>
            </a:r>
            <a:endParaRPr lang="pt-BR" sz="7200" dirty="0">
              <a:solidFill>
                <a:srgbClr val="002060"/>
              </a:solidFill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9AE4586E-792C-45FA-9D45-E8551058C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11696700" cy="365125"/>
          </a:xfrm>
        </p:spPr>
        <p:txBody>
          <a:bodyPr/>
          <a:lstStyle/>
          <a:p>
            <a:r>
              <a:rPr lang="pt-BR" dirty="0"/>
              <a:t>Arquitetura e Organização de Computadores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1F1A3EB8-AB58-4E9C-AFF1-F419E5DDE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6700" y="6492875"/>
            <a:ext cx="495300" cy="365125"/>
          </a:xfrm>
        </p:spPr>
        <p:txBody>
          <a:bodyPr/>
          <a:lstStyle/>
          <a:p>
            <a:fld id="{DBDB6521-5767-44C1-B935-036EFCA3B4E2}" type="slidenum">
              <a:rPr lang="pt-BR" smtClean="0"/>
              <a:t>34</a:t>
            </a:fld>
            <a:endParaRPr lang="pt-BR" dirty="0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2971" y="2816785"/>
            <a:ext cx="3327239" cy="1586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50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4512</TotalTime>
  <Words>1227</Words>
  <Application>Microsoft Office PowerPoint</Application>
  <PresentationFormat>Widescreen</PresentationFormat>
  <Paragraphs>285</Paragraphs>
  <Slides>34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7" baseType="lpstr">
      <vt:lpstr>Arial</vt:lpstr>
      <vt:lpstr>Calibri</vt:lpstr>
      <vt:lpstr>Tema do Office</vt:lpstr>
      <vt:lpstr>Conjuntos de Instruções – Características e Funções</vt:lpstr>
      <vt:lpstr>Introdução – O que é um Conjunto de Instruções?</vt:lpstr>
      <vt:lpstr>Elementos de uma Instrução</vt:lpstr>
      <vt:lpstr>O Ciclo de Instrução</vt:lpstr>
      <vt:lpstr>Representação da Instrução</vt:lpstr>
      <vt:lpstr>Formato de Instrução Simples</vt:lpstr>
      <vt:lpstr>Tipos de Instruções</vt:lpstr>
      <vt:lpstr>Quantidade de Endereços em uma Instrução</vt:lpstr>
      <vt:lpstr>Quantidade de Endereços em uma Instrução</vt:lpstr>
      <vt:lpstr>Quantidade de Endereços em uma Instrução</vt:lpstr>
      <vt:lpstr>Quantidade de Endereços em uma Instrução</vt:lpstr>
      <vt:lpstr>Questão de Projeto: Quantos Endereços?</vt:lpstr>
      <vt:lpstr>Outras decisões de Projeto</vt:lpstr>
      <vt:lpstr>Outras decisões de Projeto</vt:lpstr>
      <vt:lpstr>Tipos de Operandos em instruções</vt:lpstr>
      <vt:lpstr>Tipos de Operações em instruções</vt:lpstr>
      <vt:lpstr>Transferência de Dados</vt:lpstr>
      <vt:lpstr>Aritmética</vt:lpstr>
      <vt:lpstr>Lógica</vt:lpstr>
      <vt:lpstr>Operações de Deslocamento e Rotação</vt:lpstr>
      <vt:lpstr>Entrada/Saída</vt:lpstr>
      <vt:lpstr>Controle do Sistema</vt:lpstr>
      <vt:lpstr>Transferência de Controle</vt:lpstr>
      <vt:lpstr>Transferência de Controle – Exemplo de Desvio</vt:lpstr>
      <vt:lpstr>Transferência de Controle</vt:lpstr>
      <vt:lpstr>Transferência de Controle</vt:lpstr>
      <vt:lpstr>Chamadas de Procedimentos Aninhados</vt:lpstr>
      <vt:lpstr>Instruções de Chamada de Subrotina</vt:lpstr>
      <vt:lpstr>Crescimento do Frame de Pilha</vt:lpstr>
      <vt:lpstr>Comparação de Programas</vt:lpstr>
      <vt:lpstr>Operações comuns do Conjunto de Instruções</vt:lpstr>
      <vt:lpstr>Operações comuns do Conjunto de Instruções</vt:lpstr>
      <vt:lpstr>Operações comuns do Conjunto de Instruções</vt:lpstr>
      <vt:lpstr>Dúvidas?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Assistive Haptic System Towards Visually Impaired Computer Science Learning</dc:title>
  <dc:creator>Alisson Renan Svaigen</dc:creator>
  <cp:lastModifiedBy>Felippe Fernandes da Silva</cp:lastModifiedBy>
  <cp:revision>412</cp:revision>
  <dcterms:created xsi:type="dcterms:W3CDTF">2018-05-19T12:58:17Z</dcterms:created>
  <dcterms:modified xsi:type="dcterms:W3CDTF">2022-02-11T18:16:38Z</dcterms:modified>
</cp:coreProperties>
</file>